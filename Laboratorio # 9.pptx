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50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001" y="4540931"/>
            <a:ext cx="2214208" cy="21129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64" y="5143549"/>
            <a:ext cx="2696936" cy="13538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1069848"/>
            <a:ext cx="8321040" cy="1985159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300" b="0" dirty="0" err="1">
                <a:solidFill>
                  <a:srgbClr val="000000"/>
                </a:solidFill>
                <a:latin typeface="Calibri Light"/>
              </a:rPr>
              <a:t>Práctica</a:t>
            </a:r>
            <a:r>
              <a:rPr sz="4300" b="0" dirty="0">
                <a:solidFill>
                  <a:srgbClr val="000000"/>
                </a:solidFill>
                <a:latin typeface="Calibri Light"/>
              </a:rPr>
              <a:t> # </a:t>
            </a:r>
            <a:r>
              <a:rPr lang="es-MX" sz="4300" b="0" dirty="0">
                <a:solidFill>
                  <a:srgbClr val="000000"/>
                </a:solidFill>
                <a:latin typeface="Calibri Light"/>
              </a:rPr>
              <a:t>9</a:t>
            </a:r>
            <a:r>
              <a:rPr sz="4300" b="0" dirty="0">
                <a:solidFill>
                  <a:srgbClr val="000000"/>
                </a:solidFill>
                <a:latin typeface="Calibri Light"/>
              </a:rPr>
              <a:t> –</a:t>
            </a:r>
          </a:p>
          <a:p>
            <a:pPr algn="ctr">
              <a:spcAft>
                <a:spcPts val="0"/>
              </a:spcAft>
            </a:pPr>
            <a:r>
              <a:rPr sz="4300" b="0" dirty="0" err="1">
                <a:solidFill>
                  <a:srgbClr val="000000"/>
                </a:solidFill>
                <a:latin typeface="Calibri Light"/>
              </a:rPr>
              <a:t>Automatización</a:t>
            </a:r>
            <a:endParaRPr sz="4300" b="0" dirty="0">
              <a:solidFill>
                <a:srgbClr val="000000"/>
              </a:solidFill>
              <a:latin typeface="Calibri Light"/>
            </a:endParaRPr>
          </a:p>
          <a:p>
            <a:pPr algn="ctr">
              <a:spcAft>
                <a:spcPts val="0"/>
              </a:spcAft>
            </a:pPr>
            <a:r>
              <a:rPr sz="4300" b="0" dirty="0">
                <a:solidFill>
                  <a:srgbClr val="000000"/>
                </a:solidFill>
                <a:latin typeface="Calibri Light"/>
              </a:rPr>
              <a:t>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200400"/>
            <a:ext cx="9646920" cy="329184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Calibri Light"/>
              </a:rPr>
              <a:t>LM35 · DHT22 · LCD I²C · Excel Data Streamer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3575304"/>
            <a:ext cx="8458200" cy="1371600"/>
          </a:xfrm>
          <a:prstGeom prst="rect">
            <a:avLst/>
          </a:prstGeom>
          <a:noFill/>
        </p:spPr>
        <p:txBody>
          <a:bodyPr wrap="square" lIns="54864" tIns="0" rIns="54864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Calibri Light"/>
              </a:rPr>
              <a:t>Gian Carlo Daraviña Peña. M.sc</a:t>
            </a:r>
          </a:p>
          <a:p>
            <a:pPr algn="ctr"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Calibri Light"/>
              </a:rPr>
              <a:t>Universidad del Magdalena</a:t>
            </a:r>
          </a:p>
          <a:p>
            <a:pPr algn="ctr">
              <a:spcAft>
                <a:spcPts val="0"/>
              </a:spcAft>
            </a:pPr>
            <a:r>
              <a:rPr sz="2200" b="0" dirty="0">
                <a:solidFill>
                  <a:srgbClr val="000000"/>
                </a:solidFill>
                <a:latin typeface="Calibri Light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2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0759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" y="1266444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Conectar correctamente sensores analógico y digital al Arduino UNO.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15568" y="2153412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Obtener temperatura con LM35 y temperatura/humedad con DHT22.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15568" y="3040380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Mostrar las mediciones en un LCD 16×2 mediante bus I²C.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2960" y="396849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15568" y="3927348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Transmitir registros por puerto serial a Excel Data Streamer.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485546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15568" y="4814316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Gestionar tareas periódicas sin delay() utilizando millis().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Arquitectura del sistema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3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700784"/>
            <a:ext cx="2880360" cy="1197864"/>
          </a:xfrm>
          <a:prstGeom prst="roundRect">
            <a:avLst>
              <a:gd name="adj" fmla="val 7634"/>
            </a:avLst>
          </a:prstGeom>
          <a:solidFill>
            <a:srgbClr val="E8F1F9"/>
          </a:solidFill>
          <a:ln w="8890">
            <a:solidFill>
              <a:srgbClr val="E8F1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78992" y="1847088"/>
            <a:ext cx="2542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LM35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2395728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A0 · señal analógica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858768"/>
            <a:ext cx="2880360" cy="1197864"/>
          </a:xfrm>
          <a:prstGeom prst="roundRect">
            <a:avLst>
              <a:gd name="adj" fmla="val 7634"/>
            </a:avLst>
          </a:prstGeom>
          <a:solidFill>
            <a:srgbClr val="E8F1F9"/>
          </a:solidFill>
          <a:ln w="8890">
            <a:solidFill>
              <a:srgbClr val="E8F1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78992" y="4005072"/>
            <a:ext cx="2542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DHT22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455371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D2 · señal digital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761488"/>
            <a:ext cx="2880360" cy="1197864"/>
          </a:xfrm>
          <a:prstGeom prst="roundRect">
            <a:avLst>
              <a:gd name="adj" fmla="val 7634"/>
            </a:avLst>
          </a:prstGeom>
          <a:solidFill>
            <a:srgbClr val="2862A6"/>
          </a:solidFill>
          <a:ln w="889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82312" y="2907792"/>
            <a:ext cx="2542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ARDUINO UNO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27448" y="345643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adquisición + millis()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39912" y="1700784"/>
            <a:ext cx="2880360" cy="1197864"/>
          </a:xfrm>
          <a:prstGeom prst="roundRect">
            <a:avLst>
              <a:gd name="adj" fmla="val 7634"/>
            </a:avLst>
          </a:prstGeom>
          <a:solidFill>
            <a:srgbClr val="E8F1F9"/>
          </a:solidFill>
          <a:ln w="8890">
            <a:solidFill>
              <a:srgbClr val="E8F1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04504" y="1847088"/>
            <a:ext cx="2542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LCD I²C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49640" y="2395728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SDA A4 · SCL A5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39912" y="3858768"/>
            <a:ext cx="2880360" cy="1197864"/>
          </a:xfrm>
          <a:prstGeom prst="roundRect">
            <a:avLst>
              <a:gd name="adj" fmla="val 7634"/>
            </a:avLst>
          </a:prstGeom>
          <a:solidFill>
            <a:srgbClr val="E8F1F9"/>
          </a:solidFill>
          <a:ln w="8890">
            <a:solidFill>
              <a:srgbClr val="E8F1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604504" y="4005072"/>
            <a:ext cx="2542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49640" y="4553712"/>
            <a:ext cx="2651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USB serial · Data Streamer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5705856"/>
            <a:ext cx="10195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7E84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Sensores → Arduino → visualización local / adquisición en PC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Componentes y requisitos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4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243584"/>
            <a:ext cx="5257800" cy="4892040"/>
          </a:xfrm>
          <a:prstGeom prst="roundRect">
            <a:avLst>
              <a:gd name="adj" fmla="val 1869"/>
            </a:avLst>
          </a:prstGeom>
          <a:solidFill>
            <a:srgbClr val="F3F7FC"/>
          </a:solidFill>
          <a:ln w="8890">
            <a:solidFill>
              <a:srgbClr val="F3F7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181344" y="1243584"/>
            <a:ext cx="5321808" cy="4892040"/>
          </a:xfrm>
          <a:prstGeom prst="roundRect">
            <a:avLst>
              <a:gd name="adj" fmla="val 1869"/>
            </a:avLst>
          </a:prstGeom>
          <a:solidFill>
            <a:srgbClr val="F3F7FC"/>
          </a:solidFill>
          <a:ln w="8890">
            <a:solidFill>
              <a:srgbClr val="F3F7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Hardware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8232" y="149047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09397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Arduino UNO y cable USB de datos.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Sensor LM35, encapsulado TO-92.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Módulo DHT22 con tres terminales: VCC, DATA y GND.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LCD 16×2 con adaptador I²C (PCF8574).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58114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Protoboard y cables; pull-up de 10 kΩ si aplica.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28232" y="209397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Arduino IDE y puerto serie disponible.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28232" y="271576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Librería DHT sensor library.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28232" y="33375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Librería Adafruit Unified Sensor (dependencia).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8232" y="395935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Librería LiquidCrystal_I2C compatible.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28232" y="458114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Excel de escritorio en Windows con Data Streamer habilitado.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Mapa de conexiones del Arduino UNO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5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481328"/>
            <a:ext cx="3246120" cy="694944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24128" y="1517904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Dispositivo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481328"/>
            <a:ext cx="3108960" cy="694944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70248" y="1517904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Terminal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1481328"/>
            <a:ext cx="4005072" cy="694944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79208" y="1517904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Arduino / alimentación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176272"/>
            <a:ext cx="3246120" cy="69494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24128" y="2212848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LM35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60520" y="2176272"/>
            <a:ext cx="3108960" cy="69494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270248" y="221284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VCC · VOUT · GND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2176272"/>
            <a:ext cx="4005072" cy="69494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79208" y="2212848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5V · A0 · GND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2871216"/>
            <a:ext cx="32461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24128" y="2907792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DHT22 (3 pines)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60520" y="2871216"/>
            <a:ext cx="310896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270248" y="2907792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VCC · DATA · GND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69480" y="2871216"/>
            <a:ext cx="400507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79208" y="2907792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5V · D2 · GND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4400" y="3566160"/>
            <a:ext cx="3246120" cy="69494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24128" y="3602736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LCD I²C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60520" y="3566160"/>
            <a:ext cx="3108960" cy="69494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270248" y="3602736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VCC · GND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269480" y="3566160"/>
            <a:ext cx="4005072" cy="69494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79208" y="3602736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5V · GND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4400" y="4261104"/>
            <a:ext cx="32461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24128" y="4297680"/>
            <a:ext cx="3044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LCD I²C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160520" y="4261104"/>
            <a:ext cx="310896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270248" y="4297680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SDA · SCL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269480" y="4261104"/>
            <a:ext cx="400507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79208" y="4297680"/>
            <a:ext cx="3803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A4 · A5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4400" y="566013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Distribuir 5 V y GND en los rieles de la protoboard; todos los dispositivos comparten tierra.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Montaje seguro y comprobaciones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6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24358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69848" y="1202436"/>
            <a:ext cx="10552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LM35 TO-92: con la cara plana al frente, verificar VCC–VOUT–GND en su hoja de datos.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77240" y="213969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69848" y="2098548"/>
            <a:ext cx="10552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DHT22 de 3 pines: el orden del módulo cambia; seguir las marcas VCC/DATA/GND.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77240" y="303580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69848" y="2994660"/>
            <a:ext cx="10552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Usar resistencia pull-up entre DATA y 5 V si el módulo no la incorpora.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77240" y="393192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69848" y="3890772"/>
            <a:ext cx="10552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Verificar continuidad de rieles partidos: 5 V con 5 V y GND con GND.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77240" y="482803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69848" y="4786884"/>
            <a:ext cx="10552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LCD: dirección I²C habitual 0x27; algunos módulos responden en 0x3F.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LM35: temperatura a partir de voltaje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7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31673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33856" y="1275588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Salida analógica nominal: 10 mV por cada °C.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41248" y="212140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33856" y="2080260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Arduino UNO: analogRead(A0) devuelve un valor de 0 a 1023.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41248" y="292608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33856" y="2884932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Con Vref = 5,0 V: voltaje = lectura × (5,0 / 1023).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1248" y="373075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33856" y="3689604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Temperatura (°C) = voltaje × 100.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41248" y="453542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33856" y="4494276"/>
            <a:ext cx="10186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Ejemplo: 0,25 V corresponde aproximadamente a 25 °C.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9536" y="5577840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E7F1F8"/>
          </a:solidFill>
          <a:ln w="8890">
            <a:solidFill>
              <a:srgbClr val="E7F1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56875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Precisión: la fórmula depende del valor real de la referencia ADC.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DHT22: un solo pin de datos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8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3816" y="132588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06424" y="1284732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El módulo de tres terminales utiliza un solo conductor DATA hacia D2.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3816" y="216712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6424" y="2125980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La comunicación digital entrega humedad relativa y temperatura.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3816" y="300837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06424" y="2967228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Respetar aproximadamente 2 s entre lecturas consecutivas.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3816" y="384962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06424" y="3808476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No utilizar analogRead() para este sensor: se requiere la librería DHT.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3816" y="469087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06424" y="4649724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Comprobar valores NaN antes de enviar datos o actualizar resultados.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LCD 16×2 mediante I²C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9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" y="1284732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Conexiones mínimas: VCC, GND, SDA y SCL.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15798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15568" y="2116836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En Arduino UNO: SDA = A4 y SCL = A5.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299008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15568" y="2948940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La dirección típica es 0x27, pero debe verificarse en el módulo.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82219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15568" y="3781044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Mostrar temperatura LM35 en línea 1 y humedad / temperatura DHT22 en línea 2.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2960" y="465429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15568" y="4613148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Reescribir zonas completas o añadir espacios para eliminar caracteres anteriores.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Tres temporizadores independientes con millis()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10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86968" y="1389888"/>
            <a:ext cx="3383280" cy="786384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96696" y="1426464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Tarea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70248" y="1389888"/>
            <a:ext cx="2011680" cy="786384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379976" y="142646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Intervalo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81928" y="1389888"/>
            <a:ext cx="5056632" cy="786384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91656" y="1426464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Acción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" y="2176272"/>
            <a:ext cx="3383280" cy="78638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96696" y="2212848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Lectura LM35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70248" y="2176272"/>
            <a:ext cx="2011680" cy="78638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379976" y="2212848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500 ms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1928" y="2176272"/>
            <a:ext cx="5056632" cy="78638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391656" y="2212848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Adquirir A0 y convertir a °C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6968" y="2962656"/>
            <a:ext cx="33832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96696" y="2999232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Lectura DHT22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70248" y="2962656"/>
            <a:ext cx="20116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79976" y="2999232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2000 ms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81928" y="2962656"/>
            <a:ext cx="505663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391656" y="2999232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Leer temperatura y humedad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86968" y="3749040"/>
            <a:ext cx="3383280" cy="78638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96696" y="3785616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LCD I²C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70248" y="3749040"/>
            <a:ext cx="2011680" cy="78638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379976" y="378561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1000 ms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81928" y="3749040"/>
            <a:ext cx="5056632" cy="786384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391656" y="3785616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Actualizar las dos líneas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86968" y="4535424"/>
            <a:ext cx="33832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96696" y="4572000"/>
            <a:ext cx="3182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Excel por Serial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70248" y="4535424"/>
            <a:ext cx="201168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379976" y="4572000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2000 ms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81928" y="4535424"/>
            <a:ext cx="505663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391656" y="4572000"/>
            <a:ext cx="4855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Emitir fila CSV numérica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41832" y="56967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Concurrencia cooperativa: cada tarea debe ejecutarse rápidamente y sin delay().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75D"/>
                </a:solidFill>
                <a:latin typeface="Calibri" pitchFamily="34" charset="0"/>
                <a:ea typeface="Aptos" pitchFamily="34" charset="-122"/>
                <a:cs typeface="Aptos" pitchFamily="34" charset="-120"/>
              </a:rPr>
              <a:t>Código 1/3 · librerías, objetos y configuración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11  /  C++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" y="1188720"/>
            <a:ext cx="10844784" cy="5001768"/>
          </a:xfrm>
          <a:prstGeom prst="roundRect">
            <a:avLst>
              <a:gd name="adj" fmla="val 1828"/>
            </a:avLst>
          </a:prstGeom>
          <a:solidFill>
            <a:srgbClr val="F1F5F9"/>
          </a:solidFill>
          <a:ln w="889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0378440" cy="450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#include &lt;Wire.h&gt;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#include &lt;LiquidCrystal_I2C.h&gt;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#include &lt;DHT.h&gt;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#define PIN_LM35 A0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#define PIN_DHT 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#define DHTTYPE DHT22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DHT dht(PIN_DHT, DHTTYPE);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LiquidCrystal_I2C lcd(0x27, 16, 2);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float tempLM35 = NAN, tempDHT = NAN, humedad = NAN;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Serial.begin(115200);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dht.begin(); lcd.init(); lcd.backlight();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62362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Código completo incluido en el archivo .ino complementario.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75D"/>
                </a:solidFill>
                <a:latin typeface="Calibri" pitchFamily="34" charset="0"/>
                <a:ea typeface="Aptos" pitchFamily="34" charset="-122"/>
                <a:cs typeface="Aptos" pitchFamily="34" charset="-120"/>
              </a:rPr>
              <a:t>Código 2/3 · lecturas periódicas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12  /  C++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" y="1188720"/>
            <a:ext cx="10844784" cy="5001768"/>
          </a:xfrm>
          <a:prstGeom prst="roundRect">
            <a:avLst>
              <a:gd name="adj" fmla="val 1828"/>
            </a:avLst>
          </a:prstGeom>
          <a:solidFill>
            <a:srgbClr val="F1F5F9"/>
          </a:solidFill>
          <a:ln w="889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0378440" cy="450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const unsigned long T_LM35=500, T_DHT=2000;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unsigned long tLM35=0, tDHT=0;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unsigned long ahora = millis();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if (ahora - tLM35 &gt;= T_LM35)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tLM35 = ahora;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int adc = analogRead(PIN_LM35);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tempLM35 = adc * (5.0 / 1023.0) * 100.0;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if (ahora - tDHT &gt;= T_DHT)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tDHT = ahora;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float t = dht.readTemperature();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float h = dht.readHumidity();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if (!isnan(t)) tempDHT = 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if (!isnan(h)) humedad = h;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// Continúan las tareas LCD y Serial.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62362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Los temporizadores LCD y Excel se añaden en el .ino completo.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75D"/>
                </a:solidFill>
                <a:latin typeface="Calibri" pitchFamily="34" charset="0"/>
                <a:ea typeface="Aptos" pitchFamily="34" charset="-122"/>
                <a:cs typeface="Aptos" pitchFamily="34" charset="-120"/>
              </a:rPr>
              <a:t>Código 3/3 · salida serie compatible con Excel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13  /  C++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7512" y="1188720"/>
            <a:ext cx="10844784" cy="5001768"/>
          </a:xfrm>
          <a:prstGeom prst="roundRect">
            <a:avLst>
              <a:gd name="adj" fmla="val 1828"/>
            </a:avLst>
          </a:prstGeom>
          <a:solidFill>
            <a:srgbClr val="F1F5F9"/>
          </a:solidFill>
          <a:ln w="8890">
            <a:solidFill>
              <a:srgbClr val="F1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0378440" cy="450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const unsigned long T_EXCEL = 2000;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unsigned long tExcel = 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// Dentro del loop(), después de adquirir sensores: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if (ahora - tExcel &gt;= T_EXCEL)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tExcel = ahora;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if (!isnan(tempLM35) &amp;&amp; !isnan(tempDHT)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  &amp;&amp; !isnan(humedad))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Serial.print(tempLM35, 2);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Serial.print(',');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Serial.print(tempDHT, 2);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Serial.print(',');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  Serial.println(humedad, 2);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B344C"/>
                </a:solidFill>
                <a:latin typeface="Calibri Light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623620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En el archivo .ino está integrado además el refresco de la LCD.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Microsoft Excel: Data Streamer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14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3816" y="129844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06424" y="1257300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Abrir Excel de escritorio compatible y habilitar el complemento Data Streamer.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13816" y="213055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6424" y="2089404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Conectar el Arduino mediante USB; cerrar el Monitor Serie del IDE.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13816" y="296265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06424" y="2921508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En Data Streamer, seleccionar el dispositivo/puerto y conectar.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13816" y="379476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06424" y="3753612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Iniciar la adquisición mediante Start Data (Iniciar datos).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13816" y="462686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06424" y="4585716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Comprobar que lleguen tres columnas: LM35 °C, DHT22 °C y HR %.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Formato de datos seriales: CSV numérico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15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426464"/>
            <a:ext cx="10314432" cy="1380744"/>
          </a:xfrm>
          <a:prstGeom prst="roundRect">
            <a:avLst>
              <a:gd name="adj" fmla="val 6623"/>
            </a:avLst>
          </a:prstGeom>
          <a:solidFill>
            <a:srgbClr val="E7F1FA"/>
          </a:solidFill>
          <a:ln w="8890">
            <a:solidFill>
              <a:srgbClr val="E7F1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latin typeface="Calibri" pitchFamily="34" charset="0"/>
                <a:ea typeface="Consolas" pitchFamily="34" charset="-122"/>
                <a:cs typeface="Consolas" pitchFamily="34" charset="-120"/>
              </a:rPr>
              <a:t>25.43,25.10,61.70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914400" y="3364992"/>
            <a:ext cx="3401568" cy="667512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24128" y="3401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Columna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5968" y="3364992"/>
            <a:ext cx="3401568" cy="667512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25696" y="34015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Columna 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17536" y="3364992"/>
            <a:ext cx="3511296" cy="667512"/>
          </a:xfrm>
          <a:prstGeom prst="rect">
            <a:avLst/>
          </a:prstGeom>
          <a:solidFill>
            <a:srgbClr val="2862A6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827264" y="3401568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Columna 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032504"/>
            <a:ext cx="3401568" cy="667512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24128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LM35 (°C)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15968" y="4032504"/>
            <a:ext cx="3401568" cy="667512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425696" y="40690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DHT22 (°C)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17536" y="4032504"/>
            <a:ext cx="3511296" cy="667512"/>
          </a:xfrm>
          <a:prstGeom prst="rect">
            <a:avLst/>
          </a:prstGeom>
          <a:solidFill>
            <a:srgbClr val="F1F6FB"/>
          </a:solidFill>
          <a:ln w="10160">
            <a:solidFill>
              <a:srgbClr val="C8D4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827264" y="4069080"/>
            <a:ext cx="3310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Humedad relativa (%)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520293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Enviar solamente valores separados por comas y terminados con salto de línea; sin mensajes de depuración.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375D"/>
                </a:solidFill>
                <a:latin typeface="Calibri" pitchFamily="34" charset="0"/>
                <a:ea typeface="Aptos" pitchFamily="34" charset="-122"/>
                <a:cs typeface="Aptos" pitchFamily="34" charset="-120"/>
              </a:rPr>
              <a:t>Práctica guiada y validación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16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3816" y="122529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06424" y="1184148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72B42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1. Montar el circuito y revisar la polaridad sin alimentar el Arduino.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3816" y="198424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06424" y="1943100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72B42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2. Compilar el .ino, instalar bibliotecas y cargar el programa.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3816" y="274320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06424" y="2702052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72B42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3. Verificar valores de temperatura/humedad en la pantalla LCD.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3816" y="350215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06424" y="3461004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72B42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4. Configurar Data Streamer a 115200 baudios y registrar datos.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13816" y="426110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06424" y="4219956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72B42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5. Crear una gráfica temporal y comparar LM35 contra DHT22.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13816" y="502005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106424" y="4978908"/>
            <a:ext cx="10369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72B42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6. Cambiar los intervalos y observar la respuesta del sistema.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CD53A3-BBB1-91CD-8F5E-182D5FECE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700803"/>
            <a:ext cx="11179509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22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Análisis de resultados y aplicaciones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17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243584"/>
            <a:ext cx="5257800" cy="4892040"/>
          </a:xfrm>
          <a:prstGeom prst="roundRect">
            <a:avLst>
              <a:gd name="adj" fmla="val 1869"/>
            </a:avLst>
          </a:prstGeom>
          <a:solidFill>
            <a:srgbClr val="F3F7FC"/>
          </a:solidFill>
          <a:ln w="8890">
            <a:solidFill>
              <a:srgbClr val="F3F7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181344" y="1243584"/>
            <a:ext cx="5321808" cy="4892040"/>
          </a:xfrm>
          <a:prstGeom prst="roundRect">
            <a:avLst>
              <a:gd name="adj" fmla="val 1869"/>
            </a:avLst>
          </a:prstGeom>
          <a:solidFill>
            <a:srgbClr val="F3F7FC"/>
          </a:solidFill>
          <a:ln w="8890">
            <a:solidFill>
              <a:srgbClr val="F3F7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490472"/>
            <a:ext cx="4754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Preguntas para el informe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28232" y="149047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Aplicaciones industriales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09397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¿Qué diferencia existe entre ambas temperaturas?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¿Cómo afecta Vref a la conversión LM35?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¿Qué pasa si se lee el DHT22 demasiado rápido?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95935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¿Por qué conviene millis() frente a delay()?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28232" y="209397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Monitoreo ambiental en salas técnicas.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28232" y="271576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Registro de condiciones en tableros eléctricos.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28232" y="333756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Supervisión de temperatura en procesos.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28232" y="395935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• Prototipo de sistema SCADA / datalogger.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862A6"/>
          </a:solidFill>
          <a:ln w="12700">
            <a:solidFill>
              <a:srgbClr val="2862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03504" y="320040"/>
            <a:ext cx="10972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libri" pitchFamily="34" charset="0"/>
                <a:ea typeface="Aptos" pitchFamily="34" charset="-122"/>
                <a:cs typeface="Aptos" pitchFamily="34" charset="-120"/>
              </a:rPr>
              <a:t>Conclusiones y reto de ampliación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960120"/>
            <a:ext cx="10954512" cy="0"/>
          </a:xfrm>
          <a:prstGeom prst="line">
            <a:avLst/>
          </a:prstGeom>
          <a:noFill/>
          <a:ln w="19050">
            <a:solidFill>
              <a:srgbClr val="D7E1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PRÁCTICA DE AUTOMATIZACIÓN INDUSTRIAL  ·  ARDUINO UNO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43032" y="65196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779"/>
                </a:solidFill>
                <a:latin typeface="Calibri Light" pitchFamily="34" charset="0"/>
                <a:ea typeface="Aptos" pitchFamily="34" charset="-122"/>
                <a:cs typeface="Aptos" pitchFamily="34" charset="-120"/>
              </a:rPr>
              <a:t>18  /  LAB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32104" y="1243584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24712" y="1202436"/>
            <a:ext cx="1027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Se integraron mediciones analógicas y digitales en una misma estación.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32104" y="2103120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24712" y="2061972"/>
            <a:ext cx="1027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I²C reduce el número de pines necesarios para visualizar datos.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32104" y="2962656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24712" y="2921508"/>
            <a:ext cx="1027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La comunicación serial permite registrar y graficar mediciones en Excel.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32104" y="3822192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24712" y="3781044"/>
            <a:ext cx="1027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millis() organiza diferentes frecuencias de actualización sin bloquear el programa.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32104" y="4681728"/>
            <a:ext cx="109728" cy="109728"/>
          </a:xfrm>
          <a:prstGeom prst="roundRect">
            <a:avLst>
              <a:gd name="adj" fmla="val 83333"/>
            </a:avLst>
          </a:prstGeom>
          <a:solidFill>
            <a:srgbClr val="007E84"/>
          </a:solidFill>
          <a:ln w="8890">
            <a:solidFill>
              <a:srgbClr val="007E8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124712" y="4640580"/>
            <a:ext cx="10277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latin typeface="Calibri Light" pitchFamily="34" charset="0"/>
                <a:ea typeface="Aptos" pitchFamily="34" charset="-122"/>
                <a:cs typeface="Aptos" pitchFamily="34" charset="-120"/>
              </a:rPr>
              <a:t>Reto: incorporar una alarma por temperatura con histéresis y marcar eventos en Excel.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1582</Words>
  <Application>Microsoft Office PowerPoint</Application>
  <PresentationFormat>Panorámica</PresentationFormat>
  <Paragraphs>240</Paragraphs>
  <Slides>19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Práctica: monitoreo ambiental con Arduino y Excel</dc:title>
  <dc:subject>LM35 DHT22 LCD I2C Excel Data Streamer</dc:subject>
  <dc:creator>Material educativo - Universidad del Magdalena</dc:creator>
  <cp:lastModifiedBy>Giancarlo Daraviña Peña</cp:lastModifiedBy>
  <cp:revision>3</cp:revision>
  <dcterms:created xsi:type="dcterms:W3CDTF">2026-10-20T19:21:50Z</dcterms:created>
  <dcterms:modified xsi:type="dcterms:W3CDTF">2026-10-20T20:18:06Z</dcterms:modified>
</cp:coreProperties>
</file>