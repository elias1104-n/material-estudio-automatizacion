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35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0160">
            <a:solidFill>
              <a:srgbClr val="D9E0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56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6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- Arduino - Industria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704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con Arduino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04088" y="197510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potencia y uso industrial en </a:t>
            </a:r>
            <a:r>
              <a:rPr lang="en-US" sz="1200" dirty="0" err="1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motores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DC</a:t>
            </a:r>
          </a:p>
          <a:p>
            <a:pPr marL="0" indent="0">
              <a:buNone/>
            </a:pPr>
            <a:endParaRPr lang="en-US" sz="1200" dirty="0">
              <a:solidFill>
                <a:srgbClr val="4B5563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Profesor</a:t>
            </a:r>
            <a:r>
              <a:rPr lang="en-US" sz="1200" dirty="0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: Gian Carlo Daraviña Peña </a:t>
            </a:r>
            <a:r>
              <a:rPr lang="en-US" sz="1200" dirty="0" err="1">
                <a:solidFill>
                  <a:srgbClr val="4B5563"/>
                </a:solidFill>
                <a:latin typeface="Arial" pitchFamily="34" charset="0"/>
                <a:cs typeface="Arial" pitchFamily="34" charset="-120"/>
              </a:rPr>
              <a:t>Ms.c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13232" y="288036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3232" y="2880360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77824" y="3008376"/>
            <a:ext cx="23225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877824" y="3291840"/>
            <a:ext cx="232257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pin digital entrega pulsos ON/OFF. El promedio de esos pulsos permite regular energia en una carga.</a:t>
            </a:r>
            <a:endParaRPr lang="en-US" sz="920" dirty="0"/>
          </a:p>
        </p:txBody>
      </p:sp>
      <p:sp>
        <p:nvSpPr>
          <p:cNvPr id="74" name="Shape 72"/>
          <p:cNvSpPr/>
          <p:nvPr/>
        </p:nvSpPr>
        <p:spPr>
          <a:xfrm>
            <a:off x="3703320" y="288036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03320" y="2880360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67912" y="3008376"/>
            <a:ext cx="23225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industria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867912" y="3291840"/>
            <a:ext cx="232257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principio gobierna choppers DC, variadores de velocidad, drivers LED y etapas MOSFET/IGBT.</a:t>
            </a:r>
            <a:endParaRPr lang="en-US" sz="920" dirty="0"/>
          </a:p>
        </p:txBody>
      </p:sp>
      <p:sp>
        <p:nvSpPr>
          <p:cNvPr id="7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026" name="Picture 2" descr="Que es pwm y como funciona">
            <a:extLst>
              <a:ext uri="{FF2B5EF4-FFF2-40B4-BE49-F238E27FC236}">
                <a16:creationId xmlns:a16="http://schemas.microsoft.com/office/drawing/2014/main" id="{33546BC5-799C-78A0-8917-60594D4FB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615" y="1170432"/>
            <a:ext cx="4782312" cy="478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PWM?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25880"/>
            <a:ext cx="47091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significa Pulse Width Modulation: modulación por ancho de pulso.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señal solo cambia entre LOW (0 V) y HIGH (5 V en Arduino UNO).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duty cycle indica qué porcentaje del periodo permanece en HIGH.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una carga filtrada o lenta, el efecto se parece a un voltaje promedio.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3749040"/>
            <a:ext cx="4709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749040"/>
            <a:ext cx="73152" cy="1234440"/>
          </a:xfrm>
          <a:prstGeom prst="rect">
            <a:avLst/>
          </a:prstGeom>
          <a:solidFill>
            <a:srgbClr val="0F9A9A"/>
          </a:solidFill>
          <a:ln w="12700">
            <a:solidFill>
              <a:srgbClr val="0F9A9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877056"/>
            <a:ext cx="4379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4160520"/>
            <a:ext cx="437997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Vprom = Vcc x duty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5 V x 50% = 2.5 V promedio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5989320" y="5212080"/>
            <a:ext cx="5257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 en motores, la velocidad no siempre es lineal con el duty; depende de carga, fricción, alimentación e inercia.</a:t>
            </a:r>
            <a:endParaRPr lang="en-US" sz="110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052" name="Picture 4" descr="PWM: BeagleBone Black - HETPRO/TUTORIALES">
            <a:extLst>
              <a:ext uri="{FF2B5EF4-FFF2-40B4-BE49-F238E27FC236}">
                <a16:creationId xmlns:a16="http://schemas.microsoft.com/office/drawing/2014/main" id="{DDD1C8D1-8DB7-6D8E-9C29-5F5D458D3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568" y="1325880"/>
            <a:ext cx="5257800" cy="369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en Arduino: analogWrite()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25880"/>
            <a:ext cx="50292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analogWrite(pin, valor) genera PWM en pines compatibles.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va de 0 a 255: 0 = 0%, 127 aprox. 50%, 255 = 100%.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Arduino UNO, pines PWM habituales: 3, 5, 6, 9, 10 y 11.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PWM no crea una salida analógica real; entrega pulsos digitales.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18872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7064" y="1289304"/>
            <a:ext cx="4873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1: variación de brillo LED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227064" y="1545336"/>
            <a:ext cx="4873752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byte ledPWM = 9;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pinMode(ledPWM, OUTPUT);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duty = 0; duty &lt;= 255; duty += 5)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analogWrite(ledPWM, duty);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delay(30);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duty = 255; duty &gt;= 0; duty -= 5)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analogWrite(ledPWM, duty);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delay(30);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37033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703320"/>
            <a:ext cx="73152" cy="11430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831336"/>
            <a:ext cx="2093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7824" y="4114800"/>
            <a:ext cx="209397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duty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siempre LOW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319272" y="37033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9272" y="37033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3831336"/>
            <a:ext cx="2093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83864" y="4114800"/>
            <a:ext cx="209397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Aprox. 50% duty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aprox. 2.5 V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13232" y="5074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50749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5202936"/>
            <a:ext cx="2093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7824" y="5486400"/>
            <a:ext cx="209397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duty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siempre HIGH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3319272" y="5074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9272" y="507492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5202936"/>
            <a:ext cx="2093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Precaución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83864" y="5486400"/>
            <a:ext cx="209397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conectar motores directo al pin de Arduino.</a:t>
            </a:r>
            <a:endParaRPr lang="en-US" sz="9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EJEMPLO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manual: potenciómetro + PWM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234440"/>
            <a:ext cx="5440680" cy="4617720"/>
          </a:xfrm>
          <a:prstGeom prst="roundRect">
            <a:avLst>
              <a:gd name="adj" fmla="val 1188"/>
            </a:avLst>
          </a:prstGeom>
          <a:solidFill>
            <a:srgbClr val="F8FAFC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335024"/>
            <a:ext cx="5148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2: variar duty con potenciómetro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59536" y="1591056"/>
            <a:ext cx="5148072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byte pinPot = A0;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byte pinPWM = 9;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pinMode(pinPWM, OUTPUT);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lectura = analogRead(pinPot);   // 0..1023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duty = map(lectura, 0, 1023, 0, 255);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analogWrite(pinPWM, duty);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delay(10);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5087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F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00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Potenciómetro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 V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75320" y="15087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600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A0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966960" y="15087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2680" y="1600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pin 9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0-255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146304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93224" y="1874520"/>
            <a:ext cx="155448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6652260" y="5468112"/>
            <a:ext cx="461772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didáctico: el potenciómetro simula una perilla de velocidad. En industria, esta orden puede venir de un PLC, HMI, sensor o lazo de control.</a:t>
            </a:r>
            <a:endParaRPr lang="en-US" sz="11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074" name="Picture 2" descr="PWM: BeagleBone Black - HETPRO/TUTORIALES">
            <a:extLst>
              <a:ext uri="{FF2B5EF4-FFF2-40B4-BE49-F238E27FC236}">
                <a16:creationId xmlns:a16="http://schemas.microsoft.com/office/drawing/2014/main" id="{17E78147-F618-A6C3-F4B7-536E741CD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729" y="2392031"/>
            <a:ext cx="4250580" cy="298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DE POTENCIA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DC: Arduino no alimenta la potencia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25880"/>
            <a:ext cx="429768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pin PWM solo entrega la señal de mando.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energía del motor viene de una fuente externa adecuada.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MOSFET lógico trabaja como interruptor rápido.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diodo flyback protege contra picos inductivos del motor.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3429000"/>
            <a:ext cx="4297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429000"/>
            <a:ext cx="73152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557016"/>
            <a:ext cx="396849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práctica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3840480"/>
            <a:ext cx="3968496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y Arduino deben compartir GND. La alimentación del motor debe estar separada de la alimentación lógica.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080760" y="5650992"/>
            <a:ext cx="3291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low-side con MOSFET 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" y="5138928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típicos: MOSFET de nivel lógico, resistencia de compuerta, resistencia pull-down, diodo flyback, fusible y fuente del motor.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098" name="Picture 2" descr="Driver PWM con transistor MOSFET | eMariete">
            <a:extLst>
              <a:ext uri="{FF2B5EF4-FFF2-40B4-BE49-F238E27FC236}">
                <a16:creationId xmlns:a16="http://schemas.microsoft.com/office/drawing/2014/main" id="{562C3045-FAD6-2378-2062-8ABC19430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812" y="362063"/>
            <a:ext cx="523875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ARDUINO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 motor DC con arranque suave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170432"/>
            <a:ext cx="5349240" cy="5303520"/>
          </a:xfrm>
          <a:prstGeom prst="roundRect">
            <a:avLst>
              <a:gd name="adj" fmla="val 1034"/>
            </a:avLst>
          </a:prstGeom>
          <a:solidFill>
            <a:srgbClr val="F8FAFC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271016"/>
            <a:ext cx="5056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3: rampa para evitar golpes mecánicos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59536" y="1527048"/>
            <a:ext cx="5056632" cy="4846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byte motorPWM = 9;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pinMode(motorPWM, OUTPUT);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rampa(int inicio, int fin, int paso)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(inicio &lt; fin)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d = inicio; d &lt;= fin; d += paso)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analogWrite(motorPWM, d); delay(60);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d = inicio; d &gt;= fin; d -= paso)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analogWrite(motorPWM, d); delay(60);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rampa(0, 255, 5);   delay(1000);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rampa(255, 0, 5);   delay(1000);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325880"/>
            <a:ext cx="73152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453896"/>
            <a:ext cx="4379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usar rampa?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65392" y="1737360"/>
            <a:ext cx="437997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picos de corriente, vibraciones y esfuerzo mecánico al iniciar.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400800" y="2578608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578608"/>
            <a:ext cx="7315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706624"/>
            <a:ext cx="4379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del ejemplo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2990088"/>
            <a:ext cx="4379976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mide corriente ni velocidad real. Es control abierto: simple, pero no corrige carga.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400800" y="3840480"/>
            <a:ext cx="4709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840480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968496"/>
            <a:ext cx="4379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industrial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65392" y="4251960"/>
            <a:ext cx="4379976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sensor de corriente, encoder, PID, protección térmica y driver aislado.</a:t>
            </a:r>
            <a:endParaRPr lang="en-US" sz="92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industrial: variador de velocidad DC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901952"/>
            <a:ext cx="484632" cy="0"/>
          </a:xfrm>
          <a:prstGeom prst="line">
            <a:avLst/>
          </a:prstGeom>
          <a:noFill/>
          <a:ln w="1397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43400" y="1901952"/>
            <a:ext cx="484632" cy="0"/>
          </a:xfrm>
          <a:prstGeom prst="line">
            <a:avLst/>
          </a:prstGeom>
          <a:noFill/>
          <a:ln w="1397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309360" y="1901952"/>
            <a:ext cx="484632" cy="0"/>
          </a:xfrm>
          <a:prstGeom prst="line">
            <a:avLst/>
          </a:prstGeom>
          <a:noFill/>
          <a:ln w="1397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66760" y="1901952"/>
            <a:ext cx="484632" cy="0"/>
          </a:xfrm>
          <a:prstGeom prst="line">
            <a:avLst/>
          </a:prstGeom>
          <a:noFill/>
          <a:ln w="1397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8680" y="1481328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0F9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57276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 / PLC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0-100%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52928" y="1481328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157276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+ lógica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481328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7276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aislado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compuerta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481328"/>
            <a:ext cx="1554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57276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MOSFET / IGBT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87968" y="1481328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33688" y="157276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788920"/>
            <a:ext cx="2331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8803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corriente, RPM, temp.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" y="3767328"/>
            <a:ext cx="48920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energía: fuente DC -&gt; etapa de potencia -&gt; motor.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control: orden -&gt; PWM -&gt; driver -&gt; conmutación rápida.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675888"/>
            <a:ext cx="47091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5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duty cycle controla el voltaje promedio aplicado al motor.</a:t>
            </a:r>
            <a:endParaRPr lang="en-US" sz="1150" dirty="0"/>
          </a:p>
          <a:p>
            <a:r>
              <a:rPr lang="en-US" sz="115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etapa de potencia maneja corriente, temperatura y protección.</a:t>
            </a:r>
            <a:endParaRPr lang="en-US" sz="1150" dirty="0"/>
          </a:p>
          <a:p>
            <a:r>
              <a:rPr lang="en-US" sz="115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cerrado usa retroalimentación para mantener velocidad bajo carga.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9536" y="5193792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5193792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321808"/>
            <a:ext cx="456285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industrial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24128" y="5605272"/>
            <a:ext cx="456285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Cintas transportadoras, bombas DC, actuadores, ventiladores, bancos de prueba.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217920" y="5193792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5193792"/>
            <a:ext cx="7315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5321808"/>
            <a:ext cx="4379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82512" y="5605272"/>
            <a:ext cx="437997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tableros reales se aplican aislamiento, fusibles, paro de emergencia y normas de instalación.</a:t>
            </a:r>
            <a:endParaRPr lang="en-US" sz="9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en convertidores: DC y AC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3258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258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453896"/>
            <a:ext cx="474573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DC - Chopper PWM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1737360"/>
            <a:ext cx="474573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MOSFET conmuta una tensión DC. El duty regula el promedio de tensión y corriente en el motor.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7889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916936"/>
            <a:ext cx="474573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AC - Variador VFD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7824" y="3200400"/>
            <a:ext cx="474573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VFD rectifica AC a un bus DC y luego genera tres fases con un inversor PWM.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13232" y="42519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25196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79976"/>
            <a:ext cx="474573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LED / calefacción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7824" y="4663440"/>
            <a:ext cx="474573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regula brillo o potencia sin disipar tanta energía como un control resistivo.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92240" y="13258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4B55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4173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entrada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35824" y="1627632"/>
            <a:ext cx="27432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46720" y="13258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Rectificador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45168" y="1627632"/>
            <a:ext cx="27432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46920" y="132588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F9A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DC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85632" y="1938528"/>
            <a:ext cx="0" cy="36576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26680" y="233172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62872" y="2651760"/>
            <a:ext cx="32004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19488" y="2331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65208" y="2423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AC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fases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437376" y="5365242"/>
            <a:ext cx="4407408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AC, el PWM no busca solo un promedio DC: sintetiza ondas trifásicas con frecuencia y amplitud controladas.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28232" y="5865293"/>
            <a:ext cx="4407408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común: conmutar rápido para controlar energía de forma eficiente.</a:t>
            </a:r>
            <a:endParaRPr lang="en-US" sz="11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SEGURO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al usar PWM con motores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34440"/>
            <a:ext cx="534924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alimentar motores desde el pin 5 V del Arduino.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fuente externa dimensionada para corriente de arranque.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GND entre Arduino y la etapa de potencia.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MOSFET lógico con margen de corriente y disipación.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diodo flyback o red de protección para cargas inductivas.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resistencia de compuerta y pull-down para arranque seguro.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cables de potencia y señal para reducir ruido.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con fusible, disipador y paro de emergencia cuando aplique.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52894" y="5572811"/>
            <a:ext cx="493776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14616" y="5708599"/>
            <a:ext cx="370332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8682" y="5832043"/>
            <a:ext cx="222199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5385816"/>
            <a:ext cx="4343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5385816"/>
            <a:ext cx="73152" cy="8595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5513832"/>
            <a:ext cx="401421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PWM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02552" y="5797296"/>
            <a:ext cx="4014216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frecuencia puede producir ruido audible; alta frecuencia reduce ruido, pero aumenta pérdidas de conmutación.</a:t>
            </a:r>
            <a:endParaRPr lang="en-US" sz="9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6148" name="Picture 4" descr="Proyecto 20 – Control de placa driver de motores L298N con Arduino |  Hellbot Proyectos">
            <a:extLst>
              <a:ext uri="{FF2B5EF4-FFF2-40B4-BE49-F238E27FC236}">
                <a16:creationId xmlns:a16="http://schemas.microsoft.com/office/drawing/2014/main" id="{7C13FBBD-2017-B5B3-BD4B-2976C3C08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391" y="763524"/>
            <a:ext cx="4156377" cy="443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y práctica propuesta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566928" cy="0"/>
          </a:xfrm>
          <a:prstGeom prst="line">
            <a:avLst/>
          </a:prstGeom>
          <a:noFill/>
          <a:ln w="25400">
            <a:solidFill>
              <a:srgbClr val="0F9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1005840"/>
            <a:ext cx="38404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2344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23444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362456"/>
            <a:ext cx="296265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Comprender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1645920"/>
            <a:ext cx="29626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no es analógico real: es una señal digital modulada en ancho.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07408" y="12344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23444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62456"/>
            <a:ext cx="296265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Aplicar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29626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genera la señal; la etapa MOSFET entrega la potencia.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101584" y="12344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234440"/>
            <a:ext cx="7315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362456"/>
            <a:ext cx="2962656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Escalar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66176" y="1645920"/>
            <a:ext cx="29626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industria usa drivers, aislamiento, sensores y protección.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13232" y="2834640"/>
            <a:ext cx="4846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sugerida: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154680"/>
            <a:ext cx="507492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LED con PWM y medir duty en osciloscopio.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 con motor DC usando MOSFET y fuente externa.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velocidad con duty de 25%, 50%, 75% y 100%.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rampa y registrar corriente de arranque.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base para consulta: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154680"/>
            <a:ext cx="47548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oficial Arduino: analogWrite()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Arduino UNO: pines PWM y niveles lógicos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Hojas de datos de MOSFET/driver y normas del fabricante</a:t>
            </a:r>
            <a:endParaRPr lang="en-US" sz="1200" dirty="0"/>
          </a:p>
          <a:p>
            <a:r>
              <a:rPr lang="en-US" sz="1200" dirty="0">
                <a:solidFill>
                  <a:srgbClr val="243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de control de motores DC y VFD</a:t>
            </a:r>
            <a:endParaRPr lang="en-US" sz="12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A869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▷ PWM Arduino - [septiembre, 2026 ]">
            <a:extLst>
              <a:ext uri="{FF2B5EF4-FFF2-40B4-BE49-F238E27FC236}">
                <a16:creationId xmlns:a16="http://schemas.microsoft.com/office/drawing/2014/main" id="{83CB6A77-81E6-6810-03C5-0F4A04B53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984" y="252919"/>
            <a:ext cx="7662423" cy="596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783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1324</Words>
  <Application>Microsoft Office PowerPoint</Application>
  <PresentationFormat>Panorámica</PresentationFormat>
  <Paragraphs>206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PWM con Arduino: control de potencia e industria</dc:title>
  <dc:subject>PWM con Arduino e industria</dc:subject>
  <dc:creator>OpenAI</dc:creator>
  <cp:lastModifiedBy>Giancarlo Daraviña Peña</cp:lastModifiedBy>
  <cp:revision>8</cp:revision>
  <dcterms:created xsi:type="dcterms:W3CDTF">2026-09-24T22:41:33Z</dcterms:created>
  <dcterms:modified xsi:type="dcterms:W3CDTF">2026-09-25T02:38:36Z</dcterms:modified>
</cp:coreProperties>
</file>