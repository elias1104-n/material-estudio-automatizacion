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 id="270" r:id="rId16"/>
    <p:sldId id="272" r:id="rId17"/>
    <p:sldId id="271" r:id="rId18"/>
    <p:sldId id="273" r:id="rId19"/>
    <p:sldId id="274" r:id="rId20"/>
    <p:sldId id="275"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17" d="100"/>
          <a:sy n="117" d="100"/>
        </p:scale>
        <p:origin x="2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3C563D-C164-0946-F249-2359741C576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619E9F5-FB03-6D51-21B3-1F4D153CC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45C6BC42-1852-F767-7413-628237300E27}"/>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5" name="Marcador de pie de página 4">
            <a:extLst>
              <a:ext uri="{FF2B5EF4-FFF2-40B4-BE49-F238E27FC236}">
                <a16:creationId xmlns:a16="http://schemas.microsoft.com/office/drawing/2014/main" id="{BEA4007B-4035-05FB-97A8-13CFC14416D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D4837C3-74AB-F47B-58E4-A012D9EEADCB}"/>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763729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D56568-505F-93A4-1C20-13292E535FA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9444AB8-0D79-2F24-60F4-EFA0B16E210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E23D40-BC3F-B953-8C0E-A275FECA3DAD}"/>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5" name="Marcador de pie de página 4">
            <a:extLst>
              <a:ext uri="{FF2B5EF4-FFF2-40B4-BE49-F238E27FC236}">
                <a16:creationId xmlns:a16="http://schemas.microsoft.com/office/drawing/2014/main" id="{9BDCAA51-B692-6D43-411E-7FC66622B79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47E50B-8910-17E2-169A-F8231102E545}"/>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3652755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FEF78-124D-B950-5932-E4270655AF5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D428564-C1C8-9855-F69A-2E1A598A92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F2D6134-5BB0-2858-B006-6FA049021414}"/>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5" name="Marcador de pie de página 4">
            <a:extLst>
              <a:ext uri="{FF2B5EF4-FFF2-40B4-BE49-F238E27FC236}">
                <a16:creationId xmlns:a16="http://schemas.microsoft.com/office/drawing/2014/main" id="{CB37B7E9-4B91-4140-D2F1-5E201843FCE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8173005-E670-F29C-59E3-A36D7CC0365A}"/>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1562759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B68708-40D2-9F4D-85DE-427FE1DC1CE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7E0FB3A-0596-9478-E64D-EBD91760417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6BD80A3-8B3D-5CB8-08ED-24EDC1E5152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0EFF03ED-F9D6-8A0D-0026-9BB070185530}"/>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6" name="Marcador de pie de página 5">
            <a:extLst>
              <a:ext uri="{FF2B5EF4-FFF2-40B4-BE49-F238E27FC236}">
                <a16:creationId xmlns:a16="http://schemas.microsoft.com/office/drawing/2014/main" id="{558BA302-927D-DEE3-1EB7-A89B2551FB7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CA094B7-0166-6B17-C975-151E512F0C18}"/>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1975652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61331E-101C-E7A3-481F-F9F020A84CC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80BB327-0869-BDF2-A787-1680E76363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5FC9D67-0839-E825-CC86-7FB187D17F9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CD81F29-D9F9-6AEE-110B-0A08BD7C7B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B00939-548D-6BE0-83C4-94F0DC875C7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407CD65-B7E0-70AF-E519-DD2BD1C2F898}"/>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8" name="Marcador de pie de página 7">
            <a:extLst>
              <a:ext uri="{FF2B5EF4-FFF2-40B4-BE49-F238E27FC236}">
                <a16:creationId xmlns:a16="http://schemas.microsoft.com/office/drawing/2014/main" id="{BC40B6F2-FA76-D396-AB14-2E85B321CE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D29707B-598D-9FC6-C335-6E0E9AD2365E}"/>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1583662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C0CD08-83C2-7FC0-4DDA-B661ACB0D0B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0C280F8-DF14-3595-1D88-C7AC552AEE89}"/>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4" name="Marcador de pie de página 3">
            <a:extLst>
              <a:ext uri="{FF2B5EF4-FFF2-40B4-BE49-F238E27FC236}">
                <a16:creationId xmlns:a16="http://schemas.microsoft.com/office/drawing/2014/main" id="{046B1955-76A0-889D-FDBB-17E5A3CD0B0D}"/>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42CF256-7CCE-A1B0-C060-D4B820110E7F}"/>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4056195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5858066-B11E-1D6A-3498-C75A834B1CC2}"/>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3" name="Marcador de pie de página 2">
            <a:extLst>
              <a:ext uri="{FF2B5EF4-FFF2-40B4-BE49-F238E27FC236}">
                <a16:creationId xmlns:a16="http://schemas.microsoft.com/office/drawing/2014/main" id="{A976171F-E02C-3E21-FB87-9EF74223B1D8}"/>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6166190-F422-6A9B-0274-54DF23337753}"/>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2603239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58D262-A2A2-C72D-191A-CC05E8FFD2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741A4B6-7CC4-9371-2F32-4FEDFADCE0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1968FD8F-CD0E-3AF6-4CF5-3006DADAF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B4AFAB3-D2A7-309C-7C02-717BF966D9D4}"/>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6" name="Marcador de pie de página 5">
            <a:extLst>
              <a:ext uri="{FF2B5EF4-FFF2-40B4-BE49-F238E27FC236}">
                <a16:creationId xmlns:a16="http://schemas.microsoft.com/office/drawing/2014/main" id="{19225A13-ACA1-33C4-E580-68E03BDCD43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5E98709-4523-6458-C83F-A427D8DB660A}"/>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2728242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5149E5-40B8-3159-329B-7F453A9C2CC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1C8DF19D-0BA4-7440-6611-C85FB90429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1A26CF1-7E67-44B2-714E-45561B4E8F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A0832E2-673B-3B9F-FA9C-7DD158B486CE}"/>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6" name="Marcador de pie de página 5">
            <a:extLst>
              <a:ext uri="{FF2B5EF4-FFF2-40B4-BE49-F238E27FC236}">
                <a16:creationId xmlns:a16="http://schemas.microsoft.com/office/drawing/2014/main" id="{FB618AF9-9455-A6EB-C21F-F1472D8D025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BC7652E-C960-45DF-E9F8-324DDD3938F1}"/>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2282736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62DB2D-5C24-148A-3F84-F569353EACF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185B085-BAD1-98C6-D888-4E3F3B7CDEB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6EB282E-08D6-5B19-B23A-647A70A2B1F9}"/>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5" name="Marcador de pie de página 4">
            <a:extLst>
              <a:ext uri="{FF2B5EF4-FFF2-40B4-BE49-F238E27FC236}">
                <a16:creationId xmlns:a16="http://schemas.microsoft.com/office/drawing/2014/main" id="{F9264D8E-5351-EC24-C94D-B9F28544131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DF02C7D-75CE-4327-2F1B-F15485F20036}"/>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3159119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857409A-5826-BA3A-1B49-EADC4EA2EC2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914D107-E070-80D6-EE37-6AA236DB04A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3ADA1AC-253B-8175-5112-892B18B0CE36}"/>
              </a:ext>
            </a:extLst>
          </p:cNvPr>
          <p:cNvSpPr>
            <a:spLocks noGrp="1"/>
          </p:cNvSpPr>
          <p:nvPr>
            <p:ph type="dt" sz="half" idx="10"/>
          </p:nvPr>
        </p:nvSpPr>
        <p:spPr/>
        <p:txBody>
          <a:bodyPr/>
          <a:lstStyle/>
          <a:p>
            <a:fld id="{B4879CED-FBE5-46E7-A731-48D230D46BC0}" type="datetimeFigureOut">
              <a:rPr lang="es-CO" smtClean="0"/>
              <a:t>6/10/2026</a:t>
            </a:fld>
            <a:endParaRPr lang="es-CO"/>
          </a:p>
        </p:txBody>
      </p:sp>
      <p:sp>
        <p:nvSpPr>
          <p:cNvPr id="5" name="Marcador de pie de página 4">
            <a:extLst>
              <a:ext uri="{FF2B5EF4-FFF2-40B4-BE49-F238E27FC236}">
                <a16:creationId xmlns:a16="http://schemas.microsoft.com/office/drawing/2014/main" id="{45C5E5FC-A43B-55D8-A8E1-7FC5D4BFBBB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5F8F579-EC7C-CA1A-E4DD-DAFBE80C00E8}"/>
              </a:ext>
            </a:extLst>
          </p:cNvPr>
          <p:cNvSpPr>
            <a:spLocks noGrp="1"/>
          </p:cNvSpPr>
          <p:nvPr>
            <p:ph type="sldNum" sz="quarter" idx="12"/>
          </p:nvPr>
        </p:nvSpPr>
        <p:spPr/>
        <p:txBody>
          <a:bodyPr/>
          <a:lstStyle/>
          <a:p>
            <a:fld id="{8258DB30-6DFB-44B2-9F08-21E2AA8D3E41}" type="slidenum">
              <a:rPr lang="es-CO" smtClean="0"/>
              <a:t>‹Nº›</a:t>
            </a:fld>
            <a:endParaRPr lang="es-CO"/>
          </a:p>
        </p:txBody>
      </p:sp>
    </p:spTree>
    <p:extLst>
      <p:ext uri="{BB962C8B-B14F-4D97-AF65-F5344CB8AC3E}">
        <p14:creationId xmlns:p14="http://schemas.microsoft.com/office/powerpoint/2010/main" val="846542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A916133-5997-AAC8-FD9C-95A18599F5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6C1E663-5189-5519-9E62-B81BAA08E5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2286A82-F801-5C4C-13E8-553195A057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879CED-FBE5-46E7-A731-48D230D46BC0}" type="datetimeFigureOut">
              <a:rPr lang="es-CO" smtClean="0"/>
              <a:t>6/10/2026</a:t>
            </a:fld>
            <a:endParaRPr lang="es-CO"/>
          </a:p>
        </p:txBody>
      </p:sp>
      <p:sp>
        <p:nvSpPr>
          <p:cNvPr id="5" name="Marcador de pie de página 4">
            <a:extLst>
              <a:ext uri="{FF2B5EF4-FFF2-40B4-BE49-F238E27FC236}">
                <a16:creationId xmlns:a16="http://schemas.microsoft.com/office/drawing/2014/main" id="{3DB287DA-2197-E69A-38BC-2B2426F552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EDE3504-D7B1-ACE4-E003-D7399D18B2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8DB30-6DFB-44B2-9F08-21E2AA8D3E41}" type="slidenum">
              <a:rPr lang="es-CO" smtClean="0"/>
              <a:t>‹Nº›</a:t>
            </a:fld>
            <a:endParaRPr lang="es-CO"/>
          </a:p>
        </p:txBody>
      </p:sp>
    </p:spTree>
    <p:extLst>
      <p:ext uri="{BB962C8B-B14F-4D97-AF65-F5344CB8AC3E}">
        <p14:creationId xmlns:p14="http://schemas.microsoft.com/office/powerpoint/2010/main" val="713837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EC5BE6-000E-3D58-31CA-C9F32C9F900D}"/>
              </a:ext>
            </a:extLst>
          </p:cNvPr>
          <p:cNvSpPr>
            <a:spLocks noGrp="1"/>
          </p:cNvSpPr>
          <p:nvPr>
            <p:ph type="ctrTitle"/>
          </p:nvPr>
        </p:nvSpPr>
        <p:spPr/>
        <p:txBody>
          <a:bodyPr/>
          <a:lstStyle/>
          <a:p>
            <a:r>
              <a:rPr lang="es-CO" dirty="0"/>
              <a:t>Practica # 6 – Automatización industrial </a:t>
            </a:r>
          </a:p>
        </p:txBody>
      </p:sp>
      <p:sp>
        <p:nvSpPr>
          <p:cNvPr id="3" name="Subtítulo 2">
            <a:extLst>
              <a:ext uri="{FF2B5EF4-FFF2-40B4-BE49-F238E27FC236}">
                <a16:creationId xmlns:a16="http://schemas.microsoft.com/office/drawing/2014/main" id="{C93EB95C-FF11-FF45-FB96-FA79FA58FF14}"/>
              </a:ext>
            </a:extLst>
          </p:cNvPr>
          <p:cNvSpPr>
            <a:spLocks noGrp="1"/>
          </p:cNvSpPr>
          <p:nvPr>
            <p:ph type="subTitle" idx="1"/>
          </p:nvPr>
        </p:nvSpPr>
        <p:spPr/>
        <p:txBody>
          <a:bodyPr/>
          <a:lstStyle/>
          <a:p>
            <a:r>
              <a:rPr lang="es-CO" dirty="0"/>
              <a:t>Gian Carlo Daraviña Peña. M.sc</a:t>
            </a:r>
          </a:p>
          <a:p>
            <a:r>
              <a:rPr lang="es-CO" dirty="0"/>
              <a:t>Universidad del Magdalena</a:t>
            </a:r>
          </a:p>
          <a:p>
            <a:r>
              <a:rPr lang="es-CO" dirty="0"/>
              <a:t>2026</a:t>
            </a:r>
          </a:p>
          <a:p>
            <a:endParaRPr lang="es-CO" dirty="0"/>
          </a:p>
        </p:txBody>
      </p:sp>
      <p:pic>
        <p:nvPicPr>
          <p:cNvPr id="1026" name="Picture 2">
            <a:extLst>
              <a:ext uri="{FF2B5EF4-FFF2-40B4-BE49-F238E27FC236}">
                <a16:creationId xmlns:a16="http://schemas.microsoft.com/office/drawing/2014/main" id="{835C8C9D-2CD9-015B-A39B-A75D9D1FB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0001" y="4540931"/>
            <a:ext cx="2214208" cy="2112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453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2EDD29-3892-FBA5-E64F-6F8AAEA4F894}"/>
              </a:ext>
            </a:extLst>
          </p:cNvPr>
          <p:cNvSpPr>
            <a:spLocks noGrp="1"/>
          </p:cNvSpPr>
          <p:nvPr>
            <p:ph type="title"/>
          </p:nvPr>
        </p:nvSpPr>
        <p:spPr/>
        <p:txBody>
          <a:bodyPr/>
          <a:lstStyle/>
          <a:p>
            <a:r>
              <a:rPr lang="es-CO" dirty="0"/>
              <a:t>Contenido</a:t>
            </a:r>
          </a:p>
        </p:txBody>
      </p:sp>
      <p:sp>
        <p:nvSpPr>
          <p:cNvPr id="3" name="Marcador de contenido 2">
            <a:extLst>
              <a:ext uri="{FF2B5EF4-FFF2-40B4-BE49-F238E27FC236}">
                <a16:creationId xmlns:a16="http://schemas.microsoft.com/office/drawing/2014/main" id="{CCB07015-D768-EC2B-1137-E6C07C09948E}"/>
              </a:ext>
            </a:extLst>
          </p:cNvPr>
          <p:cNvSpPr>
            <a:spLocks noGrp="1"/>
          </p:cNvSpPr>
          <p:nvPr>
            <p:ph idx="1"/>
          </p:nvPr>
        </p:nvSpPr>
        <p:spPr/>
        <p:txBody>
          <a:bodyPr>
            <a:normAutofit lnSpcReduction="10000"/>
          </a:bodyPr>
          <a:lstStyle/>
          <a:p>
            <a:r>
              <a:rPr lang="es-CO" dirty="0"/>
              <a:t>Manejo y operabilidad de las funciones de transmisión y recepción de datos por medio de funciones Seriales. </a:t>
            </a:r>
          </a:p>
          <a:p>
            <a:r>
              <a:rPr lang="es-CO" dirty="0"/>
              <a:t>Envió de datos de tipo cadena y numéricos.</a:t>
            </a:r>
          </a:p>
          <a:p>
            <a:r>
              <a:rPr lang="es-CO" dirty="0"/>
              <a:t>Operación de concatenación. </a:t>
            </a:r>
          </a:p>
          <a:p>
            <a:r>
              <a:rPr lang="es-CO" dirty="0"/>
              <a:t>Definición del BaudRate.</a:t>
            </a:r>
          </a:p>
          <a:p>
            <a:r>
              <a:rPr lang="es-CO" dirty="0"/>
              <a:t>Descripción de la pantalla alfanumérica.</a:t>
            </a:r>
          </a:p>
          <a:p>
            <a:r>
              <a:rPr lang="es-CO" dirty="0"/>
              <a:t>Descripción de interfaz I2C en la LCD.</a:t>
            </a:r>
          </a:p>
          <a:p>
            <a:r>
              <a:rPr lang="es-CO" dirty="0"/>
              <a:t>Operación de la pantalla LCD en combinación con el panel de leds.</a:t>
            </a:r>
          </a:p>
          <a:p>
            <a:r>
              <a:rPr lang="es-CO" dirty="0"/>
              <a:t>Tarea</a:t>
            </a:r>
          </a:p>
        </p:txBody>
      </p:sp>
    </p:spTree>
    <p:extLst>
      <p:ext uri="{BB962C8B-B14F-4D97-AF65-F5344CB8AC3E}">
        <p14:creationId xmlns:p14="http://schemas.microsoft.com/office/powerpoint/2010/main" val="334446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40116-9230-AE68-552C-5997B0DB0A44}"/>
              </a:ext>
            </a:extLst>
          </p:cNvPr>
          <p:cNvSpPr>
            <a:spLocks noGrp="1"/>
          </p:cNvSpPr>
          <p:nvPr>
            <p:ph type="title"/>
          </p:nvPr>
        </p:nvSpPr>
        <p:spPr/>
        <p:txBody>
          <a:bodyPr/>
          <a:lstStyle/>
          <a:p>
            <a:r>
              <a:rPr lang="es-CO" dirty="0"/>
              <a:t>Aplicación y listado de la función Serial</a:t>
            </a:r>
          </a:p>
        </p:txBody>
      </p:sp>
      <p:sp>
        <p:nvSpPr>
          <p:cNvPr id="3" name="Marcador de contenido 2">
            <a:extLst>
              <a:ext uri="{FF2B5EF4-FFF2-40B4-BE49-F238E27FC236}">
                <a16:creationId xmlns:a16="http://schemas.microsoft.com/office/drawing/2014/main" id="{8BBA4DDA-86DB-35AC-B4FD-1B4FF33A38C7}"/>
              </a:ext>
            </a:extLst>
          </p:cNvPr>
          <p:cNvSpPr>
            <a:spLocks noGrp="1"/>
          </p:cNvSpPr>
          <p:nvPr>
            <p:ph idx="1"/>
          </p:nvPr>
        </p:nvSpPr>
        <p:spPr/>
        <p:txBody>
          <a:bodyPr/>
          <a:lstStyle/>
          <a:p>
            <a:r>
              <a:rPr lang="es-CO" dirty="0"/>
              <a:t>Serial.begin(BaudRate);</a:t>
            </a:r>
          </a:p>
          <a:p>
            <a:r>
              <a:rPr lang="es-CO" dirty="0"/>
              <a:t>Serial.print();</a:t>
            </a:r>
          </a:p>
          <a:p>
            <a:r>
              <a:rPr lang="es-CO" dirty="0"/>
              <a:t>Serial.println();</a:t>
            </a:r>
          </a:p>
          <a:p>
            <a:r>
              <a:rPr lang="es-CO" dirty="0"/>
              <a:t>Serial.Read();</a:t>
            </a:r>
          </a:p>
          <a:p>
            <a:r>
              <a:rPr lang="es-CO" dirty="0"/>
              <a:t>Serial.ReadString();</a:t>
            </a:r>
          </a:p>
          <a:p>
            <a:r>
              <a:rPr lang="es-CO" dirty="0"/>
              <a:t>Serial.ReadStringUntil();</a:t>
            </a:r>
          </a:p>
          <a:p>
            <a:r>
              <a:rPr lang="es-CO" dirty="0"/>
              <a:t>Serial.parseInt();</a:t>
            </a:r>
          </a:p>
          <a:p>
            <a:r>
              <a:rPr lang="es-CO" dirty="0"/>
              <a:t>Serial.parseFloat();</a:t>
            </a:r>
          </a:p>
        </p:txBody>
      </p:sp>
    </p:spTree>
    <p:extLst>
      <p:ext uri="{BB962C8B-B14F-4D97-AF65-F5344CB8AC3E}">
        <p14:creationId xmlns:p14="http://schemas.microsoft.com/office/powerpoint/2010/main" val="3790496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D85EB-FDE9-9378-0292-9D6A100407D4}"/>
              </a:ext>
            </a:extLst>
          </p:cNvPr>
          <p:cNvSpPr>
            <a:spLocks noGrp="1"/>
          </p:cNvSpPr>
          <p:nvPr>
            <p:ph type="title"/>
          </p:nvPr>
        </p:nvSpPr>
        <p:spPr/>
        <p:txBody>
          <a:bodyPr/>
          <a:lstStyle/>
          <a:p>
            <a:r>
              <a:rPr lang="es-CO" dirty="0"/>
              <a:t>Funcion Serial.begin()</a:t>
            </a:r>
          </a:p>
        </p:txBody>
      </p:sp>
      <p:sp>
        <p:nvSpPr>
          <p:cNvPr id="3" name="Marcador de contenido 2">
            <a:extLst>
              <a:ext uri="{FF2B5EF4-FFF2-40B4-BE49-F238E27FC236}">
                <a16:creationId xmlns:a16="http://schemas.microsoft.com/office/drawing/2014/main" id="{35B8806F-51B8-5261-5844-61D6C1B57E66}"/>
              </a:ext>
            </a:extLst>
          </p:cNvPr>
          <p:cNvSpPr>
            <a:spLocks noGrp="1"/>
          </p:cNvSpPr>
          <p:nvPr>
            <p:ph idx="1"/>
          </p:nvPr>
        </p:nvSpPr>
        <p:spPr>
          <a:xfrm>
            <a:off x="832184" y="1825625"/>
            <a:ext cx="10515600" cy="4351338"/>
          </a:xfrm>
        </p:spPr>
        <p:txBody>
          <a:bodyPr/>
          <a:lstStyle/>
          <a:p>
            <a:pPr algn="just"/>
            <a:r>
              <a:rPr lang="es-CO" dirty="0"/>
              <a:t>Permite establece la velocidad en datos en bits por segundo (Baudios) para la transmisión de datos en serie. Para comunicarse con serial monitor.</a:t>
            </a:r>
          </a:p>
          <a:p>
            <a:endParaRPr lang="es-CO" dirty="0"/>
          </a:p>
          <a:p>
            <a:r>
              <a:rPr lang="es-CO" dirty="0"/>
              <a:t>Serial.begin(</a:t>
            </a:r>
            <a:r>
              <a:rPr lang="es-CO" dirty="0">
                <a:solidFill>
                  <a:srgbClr val="FFC000"/>
                </a:solidFill>
              </a:rPr>
              <a:t>BaudRate</a:t>
            </a:r>
            <a:r>
              <a:rPr lang="es-CO" dirty="0"/>
              <a:t>)</a:t>
            </a:r>
          </a:p>
          <a:p>
            <a:endParaRPr lang="es-CO" dirty="0"/>
          </a:p>
          <a:p>
            <a:r>
              <a:rPr lang="es-CO" dirty="0"/>
              <a:t>Donde </a:t>
            </a:r>
            <a:r>
              <a:rPr lang="es-CO" dirty="0">
                <a:solidFill>
                  <a:srgbClr val="FFC000"/>
                </a:solidFill>
              </a:rPr>
              <a:t>BaudRate</a:t>
            </a:r>
            <a:r>
              <a:rPr lang="es-CO" dirty="0"/>
              <a:t> establece el baudiaje de datos.</a:t>
            </a:r>
          </a:p>
          <a:p>
            <a:endParaRPr lang="es-CO" dirty="0"/>
          </a:p>
        </p:txBody>
      </p:sp>
    </p:spTree>
    <p:extLst>
      <p:ext uri="{BB962C8B-B14F-4D97-AF65-F5344CB8AC3E}">
        <p14:creationId xmlns:p14="http://schemas.microsoft.com/office/powerpoint/2010/main" val="3058262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4E93DE-B9F6-B05F-078F-01792A17F3DE}"/>
              </a:ext>
            </a:extLst>
          </p:cNvPr>
          <p:cNvSpPr>
            <a:spLocks noGrp="1"/>
          </p:cNvSpPr>
          <p:nvPr>
            <p:ph type="title"/>
          </p:nvPr>
        </p:nvSpPr>
        <p:spPr/>
        <p:txBody>
          <a:bodyPr/>
          <a:lstStyle/>
          <a:p>
            <a:r>
              <a:rPr lang="es-CO" dirty="0"/>
              <a:t>Funcion Serial.print()	</a:t>
            </a:r>
          </a:p>
        </p:txBody>
      </p:sp>
      <p:sp>
        <p:nvSpPr>
          <p:cNvPr id="3" name="Marcador de contenido 2">
            <a:extLst>
              <a:ext uri="{FF2B5EF4-FFF2-40B4-BE49-F238E27FC236}">
                <a16:creationId xmlns:a16="http://schemas.microsoft.com/office/drawing/2014/main" id="{E56A6286-07AD-3704-1B4B-71DBEEE6E4AE}"/>
              </a:ext>
            </a:extLst>
          </p:cNvPr>
          <p:cNvSpPr>
            <a:spLocks noGrp="1"/>
          </p:cNvSpPr>
          <p:nvPr>
            <p:ph idx="1"/>
          </p:nvPr>
        </p:nvSpPr>
        <p:spPr/>
        <p:txBody>
          <a:bodyPr/>
          <a:lstStyle/>
          <a:p>
            <a:pPr algn="just"/>
            <a:r>
              <a:rPr lang="es-CO" dirty="0"/>
              <a:t>Permite visualizar en el puerto serial como texto ASCII. El comando puede tomar muchas formas. Los números se imprimen utilizando un carácter ASCII para cada digito. Los flotantes se imprimen de manera similar con dígitos ASCII, por defecto con dos decimales.</a:t>
            </a:r>
          </a:p>
        </p:txBody>
      </p:sp>
      <p:pic>
        <p:nvPicPr>
          <p:cNvPr id="5" name="Imagen 4">
            <a:extLst>
              <a:ext uri="{FF2B5EF4-FFF2-40B4-BE49-F238E27FC236}">
                <a16:creationId xmlns:a16="http://schemas.microsoft.com/office/drawing/2014/main" id="{6F648112-CFC1-C50E-E9F1-4B039A1D96A1}"/>
              </a:ext>
            </a:extLst>
          </p:cNvPr>
          <p:cNvPicPr>
            <a:picLocks noChangeAspect="1"/>
          </p:cNvPicPr>
          <p:nvPr/>
        </p:nvPicPr>
        <p:blipFill>
          <a:blip r:embed="rId2"/>
          <a:stretch>
            <a:fillRect/>
          </a:stretch>
        </p:blipFill>
        <p:spPr>
          <a:xfrm>
            <a:off x="838200" y="3929945"/>
            <a:ext cx="4591691" cy="1705213"/>
          </a:xfrm>
          <a:prstGeom prst="rect">
            <a:avLst/>
          </a:prstGeom>
        </p:spPr>
      </p:pic>
      <p:pic>
        <p:nvPicPr>
          <p:cNvPr id="7" name="Imagen 6">
            <a:extLst>
              <a:ext uri="{FF2B5EF4-FFF2-40B4-BE49-F238E27FC236}">
                <a16:creationId xmlns:a16="http://schemas.microsoft.com/office/drawing/2014/main" id="{F053140A-2B6E-19F3-D975-E1EFEEEED0FA}"/>
              </a:ext>
            </a:extLst>
          </p:cNvPr>
          <p:cNvPicPr>
            <a:picLocks noChangeAspect="1"/>
          </p:cNvPicPr>
          <p:nvPr/>
        </p:nvPicPr>
        <p:blipFill>
          <a:blip r:embed="rId3"/>
          <a:stretch>
            <a:fillRect/>
          </a:stretch>
        </p:blipFill>
        <p:spPr>
          <a:xfrm>
            <a:off x="6762111" y="3429000"/>
            <a:ext cx="3398557" cy="2762983"/>
          </a:xfrm>
          <a:prstGeom prst="rect">
            <a:avLst/>
          </a:prstGeom>
        </p:spPr>
      </p:pic>
    </p:spTree>
    <p:extLst>
      <p:ext uri="{BB962C8B-B14F-4D97-AF65-F5344CB8AC3E}">
        <p14:creationId xmlns:p14="http://schemas.microsoft.com/office/powerpoint/2010/main" val="661463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8DA7B1-DF83-3473-77D0-B59DEFBCD15B}"/>
              </a:ext>
            </a:extLst>
          </p:cNvPr>
          <p:cNvSpPr>
            <a:spLocks noGrp="1"/>
          </p:cNvSpPr>
          <p:nvPr>
            <p:ph type="title"/>
          </p:nvPr>
        </p:nvSpPr>
        <p:spPr/>
        <p:txBody>
          <a:bodyPr/>
          <a:lstStyle/>
          <a:p>
            <a:r>
              <a:rPr lang="es-CO" dirty="0"/>
              <a:t>Funcion Serial.println()</a:t>
            </a:r>
          </a:p>
        </p:txBody>
      </p:sp>
      <p:sp>
        <p:nvSpPr>
          <p:cNvPr id="3" name="Marcador de contenido 2">
            <a:extLst>
              <a:ext uri="{FF2B5EF4-FFF2-40B4-BE49-F238E27FC236}">
                <a16:creationId xmlns:a16="http://schemas.microsoft.com/office/drawing/2014/main" id="{AC4807CC-BF64-E88D-F60D-E0BB838911C2}"/>
              </a:ext>
            </a:extLst>
          </p:cNvPr>
          <p:cNvSpPr>
            <a:spLocks noGrp="1"/>
          </p:cNvSpPr>
          <p:nvPr>
            <p:ph idx="1"/>
          </p:nvPr>
        </p:nvSpPr>
        <p:spPr/>
        <p:txBody>
          <a:bodyPr/>
          <a:lstStyle/>
          <a:p>
            <a:r>
              <a:rPr lang="es-CO" dirty="0"/>
              <a:t>Imprime datos en el puerto serie como texto ASCII, seguido de un carácter de retorno no carro.</a:t>
            </a:r>
          </a:p>
        </p:txBody>
      </p:sp>
      <p:pic>
        <p:nvPicPr>
          <p:cNvPr id="5" name="Imagen 4">
            <a:extLst>
              <a:ext uri="{FF2B5EF4-FFF2-40B4-BE49-F238E27FC236}">
                <a16:creationId xmlns:a16="http://schemas.microsoft.com/office/drawing/2014/main" id="{DC00A2BB-12FB-1BE5-6EC8-7DF88F577C48}"/>
              </a:ext>
            </a:extLst>
          </p:cNvPr>
          <p:cNvPicPr>
            <a:picLocks noChangeAspect="1"/>
          </p:cNvPicPr>
          <p:nvPr/>
        </p:nvPicPr>
        <p:blipFill>
          <a:blip r:embed="rId2"/>
          <a:stretch>
            <a:fillRect/>
          </a:stretch>
        </p:blipFill>
        <p:spPr>
          <a:xfrm>
            <a:off x="1220745" y="3566773"/>
            <a:ext cx="3000794" cy="1276528"/>
          </a:xfrm>
          <a:prstGeom prst="rect">
            <a:avLst/>
          </a:prstGeom>
        </p:spPr>
      </p:pic>
    </p:spTree>
    <p:extLst>
      <p:ext uri="{BB962C8B-B14F-4D97-AF65-F5344CB8AC3E}">
        <p14:creationId xmlns:p14="http://schemas.microsoft.com/office/powerpoint/2010/main" val="336069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186B53-3AFA-2970-1C04-B4D09D43DFBA}"/>
              </a:ext>
            </a:extLst>
          </p:cNvPr>
          <p:cNvSpPr>
            <a:spLocks noGrp="1"/>
          </p:cNvSpPr>
          <p:nvPr>
            <p:ph type="title"/>
          </p:nvPr>
        </p:nvSpPr>
        <p:spPr/>
        <p:txBody>
          <a:bodyPr>
            <a:normAutofit/>
          </a:bodyPr>
          <a:lstStyle/>
          <a:p>
            <a:r>
              <a:rPr lang="es-CO" sz="3600" dirty="0"/>
              <a:t>Funciones Serial.available() / Serial.availableforWrite()</a:t>
            </a:r>
          </a:p>
        </p:txBody>
      </p:sp>
      <p:sp>
        <p:nvSpPr>
          <p:cNvPr id="3" name="Marcador de contenido 2">
            <a:extLst>
              <a:ext uri="{FF2B5EF4-FFF2-40B4-BE49-F238E27FC236}">
                <a16:creationId xmlns:a16="http://schemas.microsoft.com/office/drawing/2014/main" id="{6E1176B3-EDDF-892E-5544-A9F6506BBB68}"/>
              </a:ext>
            </a:extLst>
          </p:cNvPr>
          <p:cNvSpPr>
            <a:spLocks noGrp="1"/>
          </p:cNvSpPr>
          <p:nvPr>
            <p:ph idx="1"/>
          </p:nvPr>
        </p:nvSpPr>
        <p:spPr/>
        <p:txBody>
          <a:bodyPr/>
          <a:lstStyle/>
          <a:p>
            <a:r>
              <a:rPr lang="es-CO" dirty="0"/>
              <a:t> Obtiene el numero de bytes (caracteres) disponibles en el puerto serial. Estos datos llegan y se almacenan en una recepción en serie que contiene 64 bits de memoria.</a:t>
            </a:r>
          </a:p>
        </p:txBody>
      </p:sp>
      <p:pic>
        <p:nvPicPr>
          <p:cNvPr id="5" name="Imagen 4">
            <a:extLst>
              <a:ext uri="{FF2B5EF4-FFF2-40B4-BE49-F238E27FC236}">
                <a16:creationId xmlns:a16="http://schemas.microsoft.com/office/drawing/2014/main" id="{1DDD46CB-D7C7-5ACA-E67F-2E8C643C2436}"/>
              </a:ext>
            </a:extLst>
          </p:cNvPr>
          <p:cNvPicPr>
            <a:picLocks noChangeAspect="1"/>
          </p:cNvPicPr>
          <p:nvPr/>
        </p:nvPicPr>
        <p:blipFill>
          <a:blip r:embed="rId2"/>
          <a:stretch>
            <a:fillRect/>
          </a:stretch>
        </p:blipFill>
        <p:spPr>
          <a:xfrm>
            <a:off x="5065090" y="3215818"/>
            <a:ext cx="6525536" cy="3277057"/>
          </a:xfrm>
          <a:prstGeom prst="rect">
            <a:avLst/>
          </a:prstGeom>
        </p:spPr>
      </p:pic>
      <p:pic>
        <p:nvPicPr>
          <p:cNvPr id="7" name="Imagen 6">
            <a:extLst>
              <a:ext uri="{FF2B5EF4-FFF2-40B4-BE49-F238E27FC236}">
                <a16:creationId xmlns:a16="http://schemas.microsoft.com/office/drawing/2014/main" id="{5FE92D4E-747B-9964-2705-887284210B77}"/>
              </a:ext>
            </a:extLst>
          </p:cNvPr>
          <p:cNvPicPr>
            <a:picLocks noChangeAspect="1"/>
          </p:cNvPicPr>
          <p:nvPr/>
        </p:nvPicPr>
        <p:blipFill>
          <a:blip r:embed="rId3"/>
          <a:stretch>
            <a:fillRect/>
          </a:stretch>
        </p:blipFill>
        <p:spPr>
          <a:xfrm>
            <a:off x="1074958" y="3631761"/>
            <a:ext cx="1876687" cy="895475"/>
          </a:xfrm>
          <a:prstGeom prst="rect">
            <a:avLst/>
          </a:prstGeom>
        </p:spPr>
      </p:pic>
      <p:pic>
        <p:nvPicPr>
          <p:cNvPr id="9" name="Imagen 8">
            <a:extLst>
              <a:ext uri="{FF2B5EF4-FFF2-40B4-BE49-F238E27FC236}">
                <a16:creationId xmlns:a16="http://schemas.microsoft.com/office/drawing/2014/main" id="{CD039AFF-DA7B-C152-CA75-17E908239B47}"/>
              </a:ext>
            </a:extLst>
          </p:cNvPr>
          <p:cNvPicPr>
            <a:picLocks noChangeAspect="1"/>
          </p:cNvPicPr>
          <p:nvPr/>
        </p:nvPicPr>
        <p:blipFill>
          <a:blip r:embed="rId4"/>
          <a:stretch>
            <a:fillRect/>
          </a:stretch>
        </p:blipFill>
        <p:spPr>
          <a:xfrm>
            <a:off x="1136879" y="5206856"/>
            <a:ext cx="3629532" cy="847843"/>
          </a:xfrm>
          <a:prstGeom prst="rect">
            <a:avLst/>
          </a:prstGeom>
        </p:spPr>
      </p:pic>
    </p:spTree>
    <p:extLst>
      <p:ext uri="{BB962C8B-B14F-4D97-AF65-F5344CB8AC3E}">
        <p14:creationId xmlns:p14="http://schemas.microsoft.com/office/powerpoint/2010/main" val="3707925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B7C881-EC83-5F7C-D059-84D49D45C57A}"/>
              </a:ext>
            </a:extLst>
          </p:cNvPr>
          <p:cNvSpPr>
            <a:spLocks noGrp="1"/>
          </p:cNvSpPr>
          <p:nvPr>
            <p:ph type="title"/>
          </p:nvPr>
        </p:nvSpPr>
        <p:spPr/>
        <p:txBody>
          <a:bodyPr>
            <a:normAutofit/>
          </a:bodyPr>
          <a:lstStyle/>
          <a:p>
            <a:r>
              <a:rPr lang="es-CO" sz="3600" dirty="0"/>
              <a:t>Funciones Serial.available() / Serial.availableforWrite()</a:t>
            </a:r>
          </a:p>
        </p:txBody>
      </p:sp>
      <p:sp>
        <p:nvSpPr>
          <p:cNvPr id="3" name="Marcador de contenido 2">
            <a:extLst>
              <a:ext uri="{FF2B5EF4-FFF2-40B4-BE49-F238E27FC236}">
                <a16:creationId xmlns:a16="http://schemas.microsoft.com/office/drawing/2014/main" id="{C3FBA133-6D54-7567-3DA3-5F0EAD2B6504}"/>
              </a:ext>
            </a:extLst>
          </p:cNvPr>
          <p:cNvSpPr>
            <a:spLocks noGrp="1"/>
          </p:cNvSpPr>
          <p:nvPr>
            <p:ph idx="1"/>
          </p:nvPr>
        </p:nvSpPr>
        <p:spPr/>
        <p:txBody>
          <a:bodyPr/>
          <a:lstStyle/>
          <a:p>
            <a:r>
              <a:rPr lang="es-CO" dirty="0"/>
              <a:t>Obtenga la cantidad de bytes (Caracteres) disponibles para escribir en el búfer en serie sin bloquear la operación de escritura.</a:t>
            </a:r>
          </a:p>
        </p:txBody>
      </p:sp>
      <p:pic>
        <p:nvPicPr>
          <p:cNvPr id="5" name="Imagen 4">
            <a:extLst>
              <a:ext uri="{FF2B5EF4-FFF2-40B4-BE49-F238E27FC236}">
                <a16:creationId xmlns:a16="http://schemas.microsoft.com/office/drawing/2014/main" id="{79C70D93-EF27-0C6F-301C-AB01CE008C0E}"/>
              </a:ext>
            </a:extLst>
          </p:cNvPr>
          <p:cNvPicPr>
            <a:picLocks noChangeAspect="1"/>
          </p:cNvPicPr>
          <p:nvPr/>
        </p:nvPicPr>
        <p:blipFill>
          <a:blip r:embed="rId2"/>
          <a:stretch>
            <a:fillRect/>
          </a:stretch>
        </p:blipFill>
        <p:spPr>
          <a:xfrm>
            <a:off x="7119260" y="3024655"/>
            <a:ext cx="3530086" cy="3287245"/>
          </a:xfrm>
          <a:prstGeom prst="rect">
            <a:avLst/>
          </a:prstGeom>
        </p:spPr>
      </p:pic>
      <p:pic>
        <p:nvPicPr>
          <p:cNvPr id="7" name="Imagen 6">
            <a:extLst>
              <a:ext uri="{FF2B5EF4-FFF2-40B4-BE49-F238E27FC236}">
                <a16:creationId xmlns:a16="http://schemas.microsoft.com/office/drawing/2014/main" id="{356D9843-FDCB-D642-45C0-7B8D3CEBC258}"/>
              </a:ext>
            </a:extLst>
          </p:cNvPr>
          <p:cNvPicPr>
            <a:picLocks noChangeAspect="1"/>
          </p:cNvPicPr>
          <p:nvPr/>
        </p:nvPicPr>
        <p:blipFill>
          <a:blip r:embed="rId3"/>
          <a:stretch>
            <a:fillRect/>
          </a:stretch>
        </p:blipFill>
        <p:spPr>
          <a:xfrm>
            <a:off x="1542654" y="3269015"/>
            <a:ext cx="2657846" cy="933580"/>
          </a:xfrm>
          <a:prstGeom prst="rect">
            <a:avLst/>
          </a:prstGeom>
        </p:spPr>
      </p:pic>
      <p:pic>
        <p:nvPicPr>
          <p:cNvPr id="9" name="Imagen 8">
            <a:extLst>
              <a:ext uri="{FF2B5EF4-FFF2-40B4-BE49-F238E27FC236}">
                <a16:creationId xmlns:a16="http://schemas.microsoft.com/office/drawing/2014/main" id="{54C2E1AD-EDF0-0C39-53E6-B28DC03E3483}"/>
              </a:ext>
            </a:extLst>
          </p:cNvPr>
          <p:cNvPicPr>
            <a:picLocks noChangeAspect="1"/>
          </p:cNvPicPr>
          <p:nvPr/>
        </p:nvPicPr>
        <p:blipFill>
          <a:blip r:embed="rId4"/>
          <a:stretch>
            <a:fillRect/>
          </a:stretch>
        </p:blipFill>
        <p:spPr>
          <a:xfrm>
            <a:off x="1542654" y="4644214"/>
            <a:ext cx="3743847" cy="866896"/>
          </a:xfrm>
          <a:prstGeom prst="rect">
            <a:avLst/>
          </a:prstGeom>
        </p:spPr>
      </p:pic>
    </p:spTree>
    <p:extLst>
      <p:ext uri="{BB962C8B-B14F-4D97-AF65-F5344CB8AC3E}">
        <p14:creationId xmlns:p14="http://schemas.microsoft.com/office/powerpoint/2010/main" val="2645475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953271-A8E2-58E1-C67A-BF7AB74A6D9C}"/>
              </a:ext>
            </a:extLst>
          </p:cNvPr>
          <p:cNvSpPr>
            <a:spLocks noGrp="1"/>
          </p:cNvSpPr>
          <p:nvPr>
            <p:ph type="title"/>
          </p:nvPr>
        </p:nvSpPr>
        <p:spPr/>
        <p:txBody>
          <a:bodyPr/>
          <a:lstStyle/>
          <a:p>
            <a:r>
              <a:rPr lang="es-CO" dirty="0"/>
              <a:t>Funcion Serial.read()</a:t>
            </a:r>
          </a:p>
        </p:txBody>
      </p:sp>
      <p:sp>
        <p:nvSpPr>
          <p:cNvPr id="3" name="Marcador de contenido 2">
            <a:extLst>
              <a:ext uri="{FF2B5EF4-FFF2-40B4-BE49-F238E27FC236}">
                <a16:creationId xmlns:a16="http://schemas.microsoft.com/office/drawing/2014/main" id="{D6DCDF0B-5EC3-5A5D-5BE9-4B42D9A8C0D5}"/>
              </a:ext>
            </a:extLst>
          </p:cNvPr>
          <p:cNvSpPr>
            <a:spLocks noGrp="1"/>
          </p:cNvSpPr>
          <p:nvPr>
            <p:ph idx="1"/>
          </p:nvPr>
        </p:nvSpPr>
        <p:spPr/>
        <p:txBody>
          <a:bodyPr/>
          <a:lstStyle/>
          <a:p>
            <a:r>
              <a:rPr lang="es-CO" dirty="0"/>
              <a:t>Esta función permite leer los datos seriales entrante.</a:t>
            </a:r>
          </a:p>
        </p:txBody>
      </p:sp>
      <p:pic>
        <p:nvPicPr>
          <p:cNvPr id="5" name="Imagen 4">
            <a:extLst>
              <a:ext uri="{FF2B5EF4-FFF2-40B4-BE49-F238E27FC236}">
                <a16:creationId xmlns:a16="http://schemas.microsoft.com/office/drawing/2014/main" id="{C790295E-B65B-18F8-B318-112DB5549C55}"/>
              </a:ext>
            </a:extLst>
          </p:cNvPr>
          <p:cNvPicPr>
            <a:picLocks noChangeAspect="1"/>
          </p:cNvPicPr>
          <p:nvPr/>
        </p:nvPicPr>
        <p:blipFill>
          <a:blip r:embed="rId2"/>
          <a:stretch>
            <a:fillRect/>
          </a:stretch>
        </p:blipFill>
        <p:spPr>
          <a:xfrm>
            <a:off x="2069561" y="3444003"/>
            <a:ext cx="1724266" cy="1114581"/>
          </a:xfrm>
          <a:prstGeom prst="rect">
            <a:avLst/>
          </a:prstGeom>
        </p:spPr>
      </p:pic>
      <p:pic>
        <p:nvPicPr>
          <p:cNvPr id="9" name="Imagen 8">
            <a:extLst>
              <a:ext uri="{FF2B5EF4-FFF2-40B4-BE49-F238E27FC236}">
                <a16:creationId xmlns:a16="http://schemas.microsoft.com/office/drawing/2014/main" id="{8BBD3D05-662E-7390-CC89-8BC2A80F7372}"/>
              </a:ext>
            </a:extLst>
          </p:cNvPr>
          <p:cNvPicPr>
            <a:picLocks noChangeAspect="1"/>
          </p:cNvPicPr>
          <p:nvPr/>
        </p:nvPicPr>
        <p:blipFill>
          <a:blip r:embed="rId3"/>
          <a:stretch>
            <a:fillRect/>
          </a:stretch>
        </p:blipFill>
        <p:spPr>
          <a:xfrm>
            <a:off x="5626768" y="2406315"/>
            <a:ext cx="4026439" cy="3976991"/>
          </a:xfrm>
          <a:prstGeom prst="rect">
            <a:avLst/>
          </a:prstGeom>
        </p:spPr>
      </p:pic>
    </p:spTree>
    <p:extLst>
      <p:ext uri="{BB962C8B-B14F-4D97-AF65-F5344CB8AC3E}">
        <p14:creationId xmlns:p14="http://schemas.microsoft.com/office/powerpoint/2010/main" val="3471572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3F5030-3496-837A-8767-38A0564C832B}"/>
              </a:ext>
            </a:extLst>
          </p:cNvPr>
          <p:cNvSpPr>
            <a:spLocks noGrp="1"/>
          </p:cNvSpPr>
          <p:nvPr>
            <p:ph type="title"/>
          </p:nvPr>
        </p:nvSpPr>
        <p:spPr/>
        <p:txBody>
          <a:bodyPr/>
          <a:lstStyle/>
          <a:p>
            <a:r>
              <a:rPr lang="en-US" dirty="0"/>
              <a:t>Funcion Serial.readString</a:t>
            </a:r>
            <a:endParaRPr lang="es-CO" dirty="0"/>
          </a:p>
        </p:txBody>
      </p:sp>
      <p:sp>
        <p:nvSpPr>
          <p:cNvPr id="3" name="Marcador de contenido 2">
            <a:extLst>
              <a:ext uri="{FF2B5EF4-FFF2-40B4-BE49-F238E27FC236}">
                <a16:creationId xmlns:a16="http://schemas.microsoft.com/office/drawing/2014/main" id="{AECB47EB-C51B-8ECB-C7B6-DB08C9C4E08C}"/>
              </a:ext>
            </a:extLst>
          </p:cNvPr>
          <p:cNvSpPr>
            <a:spLocks noGrp="1"/>
          </p:cNvSpPr>
          <p:nvPr>
            <p:ph idx="1"/>
          </p:nvPr>
        </p:nvSpPr>
        <p:spPr>
          <a:xfrm>
            <a:off x="832184" y="1831641"/>
            <a:ext cx="10515600" cy="4351338"/>
          </a:xfrm>
        </p:spPr>
        <p:txBody>
          <a:bodyPr>
            <a:normAutofit/>
          </a:bodyPr>
          <a:lstStyle/>
          <a:p>
            <a:pPr algn="just"/>
            <a:r>
              <a:rPr lang="es-CO" sz="2400" dirty="0"/>
              <a:t>Esta función permiten leer en el puerto serial una cadena de caracteres y realiza un proceso de concatenación. Para ello es necesario crear una variable que permita almacenar los datos ya concatenados cuyo formato debe ser </a:t>
            </a:r>
            <a:r>
              <a:rPr lang="es-CO" sz="2400" dirty="0" err="1">
                <a:solidFill>
                  <a:srgbClr val="FFC000"/>
                </a:solidFill>
              </a:rPr>
              <a:t>String</a:t>
            </a:r>
            <a:r>
              <a:rPr lang="es-CO" sz="2400" dirty="0">
                <a:solidFill>
                  <a:srgbClr val="FFC000"/>
                </a:solidFill>
              </a:rPr>
              <a:t> </a:t>
            </a:r>
            <a:r>
              <a:rPr lang="es-CO" sz="2400" dirty="0">
                <a:solidFill>
                  <a:srgbClr val="00B050"/>
                </a:solidFill>
              </a:rPr>
              <a:t>var </a:t>
            </a:r>
            <a:r>
              <a:rPr lang="es-CO" sz="2400" dirty="0"/>
              <a:t>la variable var almacenar los datos que le entrega la función </a:t>
            </a:r>
            <a:r>
              <a:rPr lang="es-CO" sz="2400" b="1" dirty="0" err="1">
                <a:solidFill>
                  <a:srgbClr val="FFC000"/>
                </a:solidFill>
              </a:rPr>
              <a:t>Serial</a:t>
            </a:r>
            <a:r>
              <a:rPr lang="es-CO" sz="2400" dirty="0" err="1"/>
              <a:t>.</a:t>
            </a:r>
            <a:r>
              <a:rPr lang="es-CO" sz="2400" dirty="0" err="1">
                <a:solidFill>
                  <a:srgbClr val="FFC000"/>
                </a:solidFill>
              </a:rPr>
              <a:t>readString</a:t>
            </a:r>
            <a:r>
              <a:rPr lang="es-CO" sz="2400" dirty="0">
                <a:solidFill>
                  <a:srgbClr val="FFC000"/>
                </a:solidFill>
              </a:rPr>
              <a:t>()</a:t>
            </a:r>
          </a:p>
        </p:txBody>
      </p:sp>
      <p:pic>
        <p:nvPicPr>
          <p:cNvPr id="7" name="Imagen 6">
            <a:extLst>
              <a:ext uri="{FF2B5EF4-FFF2-40B4-BE49-F238E27FC236}">
                <a16:creationId xmlns:a16="http://schemas.microsoft.com/office/drawing/2014/main" id="{B70D3AAB-86EF-24C1-63B5-0342AE736C26}"/>
              </a:ext>
            </a:extLst>
          </p:cNvPr>
          <p:cNvPicPr>
            <a:picLocks noChangeAspect="1"/>
          </p:cNvPicPr>
          <p:nvPr/>
        </p:nvPicPr>
        <p:blipFill>
          <a:blip r:embed="rId2"/>
          <a:stretch>
            <a:fillRect/>
          </a:stretch>
        </p:blipFill>
        <p:spPr>
          <a:xfrm>
            <a:off x="7671051" y="3320715"/>
            <a:ext cx="3404017" cy="3318631"/>
          </a:xfrm>
          <a:prstGeom prst="rect">
            <a:avLst/>
          </a:prstGeom>
        </p:spPr>
      </p:pic>
      <p:pic>
        <p:nvPicPr>
          <p:cNvPr id="9" name="Imagen 8">
            <a:extLst>
              <a:ext uri="{FF2B5EF4-FFF2-40B4-BE49-F238E27FC236}">
                <a16:creationId xmlns:a16="http://schemas.microsoft.com/office/drawing/2014/main" id="{7D0EBB68-0FCF-8F7F-13D9-273435170846}"/>
              </a:ext>
            </a:extLst>
          </p:cNvPr>
          <p:cNvPicPr>
            <a:picLocks noChangeAspect="1"/>
          </p:cNvPicPr>
          <p:nvPr/>
        </p:nvPicPr>
        <p:blipFill>
          <a:blip r:embed="rId3"/>
          <a:stretch>
            <a:fillRect/>
          </a:stretch>
        </p:blipFill>
        <p:spPr>
          <a:xfrm>
            <a:off x="1950235" y="3788136"/>
            <a:ext cx="1914792" cy="809738"/>
          </a:xfrm>
          <a:prstGeom prst="rect">
            <a:avLst/>
          </a:prstGeom>
        </p:spPr>
      </p:pic>
      <p:pic>
        <p:nvPicPr>
          <p:cNvPr id="11" name="Imagen 10">
            <a:extLst>
              <a:ext uri="{FF2B5EF4-FFF2-40B4-BE49-F238E27FC236}">
                <a16:creationId xmlns:a16="http://schemas.microsoft.com/office/drawing/2014/main" id="{611CB9F7-6EEC-ADD4-6DD5-BD9D696BD59A}"/>
              </a:ext>
            </a:extLst>
          </p:cNvPr>
          <p:cNvPicPr>
            <a:picLocks noChangeAspect="1"/>
          </p:cNvPicPr>
          <p:nvPr/>
        </p:nvPicPr>
        <p:blipFill>
          <a:blip r:embed="rId4"/>
          <a:stretch>
            <a:fillRect/>
          </a:stretch>
        </p:blipFill>
        <p:spPr>
          <a:xfrm>
            <a:off x="1950235" y="5089196"/>
            <a:ext cx="3315163" cy="885949"/>
          </a:xfrm>
          <a:prstGeom prst="rect">
            <a:avLst/>
          </a:prstGeom>
        </p:spPr>
      </p:pic>
    </p:spTree>
    <p:extLst>
      <p:ext uri="{BB962C8B-B14F-4D97-AF65-F5344CB8AC3E}">
        <p14:creationId xmlns:p14="http://schemas.microsoft.com/office/powerpoint/2010/main" val="783845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3EC75D-D10D-AA91-7FF4-292FD5700449}"/>
              </a:ext>
            </a:extLst>
          </p:cNvPr>
          <p:cNvSpPr>
            <a:spLocks noGrp="1"/>
          </p:cNvSpPr>
          <p:nvPr>
            <p:ph type="title"/>
          </p:nvPr>
        </p:nvSpPr>
        <p:spPr/>
        <p:txBody>
          <a:bodyPr/>
          <a:lstStyle/>
          <a:p>
            <a:r>
              <a:rPr lang="en-US" dirty="0"/>
              <a:t>Funcion Serial.readStringUnitil()</a:t>
            </a:r>
            <a:endParaRPr lang="es-CO" dirty="0"/>
          </a:p>
        </p:txBody>
      </p:sp>
      <p:sp>
        <p:nvSpPr>
          <p:cNvPr id="3" name="Marcador de contenido 2">
            <a:extLst>
              <a:ext uri="{FF2B5EF4-FFF2-40B4-BE49-F238E27FC236}">
                <a16:creationId xmlns:a16="http://schemas.microsoft.com/office/drawing/2014/main" id="{445C3EF5-5C8D-0325-52E9-6250A4628F58}"/>
              </a:ext>
            </a:extLst>
          </p:cNvPr>
          <p:cNvSpPr>
            <a:spLocks noGrp="1"/>
          </p:cNvSpPr>
          <p:nvPr>
            <p:ph idx="1"/>
          </p:nvPr>
        </p:nvSpPr>
        <p:spPr/>
        <p:txBody>
          <a:bodyPr/>
          <a:lstStyle/>
          <a:p>
            <a:r>
              <a:rPr lang="es-CO" dirty="0"/>
              <a:t>Lee los caracteres presentes en el buffer en serie de una cadena. La función finalizara cuando se agote el tiempo de espera.</a:t>
            </a:r>
          </a:p>
        </p:txBody>
      </p:sp>
      <p:pic>
        <p:nvPicPr>
          <p:cNvPr id="6" name="Imagen 5">
            <a:extLst>
              <a:ext uri="{FF2B5EF4-FFF2-40B4-BE49-F238E27FC236}">
                <a16:creationId xmlns:a16="http://schemas.microsoft.com/office/drawing/2014/main" id="{973D841A-BB96-B6BE-481D-C018E63AE068}"/>
              </a:ext>
            </a:extLst>
          </p:cNvPr>
          <p:cNvPicPr>
            <a:picLocks noChangeAspect="1"/>
          </p:cNvPicPr>
          <p:nvPr/>
        </p:nvPicPr>
        <p:blipFill>
          <a:blip r:embed="rId2"/>
          <a:stretch>
            <a:fillRect/>
          </a:stretch>
        </p:blipFill>
        <p:spPr>
          <a:xfrm>
            <a:off x="379180" y="4001294"/>
            <a:ext cx="5847452" cy="1608049"/>
          </a:xfrm>
          <a:prstGeom prst="rect">
            <a:avLst/>
          </a:prstGeom>
        </p:spPr>
      </p:pic>
      <p:pic>
        <p:nvPicPr>
          <p:cNvPr id="8" name="Imagen 7">
            <a:extLst>
              <a:ext uri="{FF2B5EF4-FFF2-40B4-BE49-F238E27FC236}">
                <a16:creationId xmlns:a16="http://schemas.microsoft.com/office/drawing/2014/main" id="{AEDAB0DB-B0E0-016B-6A98-29CACD35CC97}"/>
              </a:ext>
            </a:extLst>
          </p:cNvPr>
          <p:cNvPicPr>
            <a:picLocks noChangeAspect="1"/>
          </p:cNvPicPr>
          <p:nvPr/>
        </p:nvPicPr>
        <p:blipFill>
          <a:blip r:embed="rId3"/>
          <a:stretch>
            <a:fillRect/>
          </a:stretch>
        </p:blipFill>
        <p:spPr>
          <a:xfrm>
            <a:off x="5122506" y="2685612"/>
            <a:ext cx="7069494" cy="4172388"/>
          </a:xfrm>
          <a:prstGeom prst="rect">
            <a:avLst/>
          </a:prstGeom>
        </p:spPr>
      </p:pic>
    </p:spTree>
    <p:extLst>
      <p:ext uri="{BB962C8B-B14F-4D97-AF65-F5344CB8AC3E}">
        <p14:creationId xmlns:p14="http://schemas.microsoft.com/office/powerpoint/2010/main" val="2799680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684EE7-2AEB-A986-171D-3F6760EEC009}"/>
              </a:ext>
            </a:extLst>
          </p:cNvPr>
          <p:cNvSpPr>
            <a:spLocks noGrp="1"/>
          </p:cNvSpPr>
          <p:nvPr>
            <p:ph type="title"/>
          </p:nvPr>
        </p:nvSpPr>
        <p:spPr/>
        <p:txBody>
          <a:bodyPr/>
          <a:lstStyle/>
          <a:p>
            <a:r>
              <a:rPr lang="en-US" dirty="0"/>
              <a:t>Funcion ParseInt y ParseFloat</a:t>
            </a:r>
            <a:endParaRPr lang="es-CO" dirty="0"/>
          </a:p>
        </p:txBody>
      </p:sp>
      <p:sp>
        <p:nvSpPr>
          <p:cNvPr id="3" name="Marcador de contenido 2">
            <a:extLst>
              <a:ext uri="{FF2B5EF4-FFF2-40B4-BE49-F238E27FC236}">
                <a16:creationId xmlns:a16="http://schemas.microsoft.com/office/drawing/2014/main" id="{591EE184-E95B-D0BF-2BD9-6FA85468064D}"/>
              </a:ext>
            </a:extLst>
          </p:cNvPr>
          <p:cNvSpPr>
            <a:spLocks noGrp="1"/>
          </p:cNvSpPr>
          <p:nvPr>
            <p:ph idx="1"/>
          </p:nvPr>
        </p:nvSpPr>
        <p:spPr/>
        <p:txBody>
          <a:bodyPr>
            <a:normAutofit/>
          </a:bodyPr>
          <a:lstStyle/>
          <a:p>
            <a:pPr algn="just"/>
            <a:r>
              <a:rPr lang="es-CO" sz="1800" dirty="0"/>
              <a:t>Devuelve el primer numero flotante valido del buffer Serial. </a:t>
            </a:r>
            <a:r>
              <a:rPr lang="es-CO" sz="1800" dirty="0" err="1"/>
              <a:t>parseFloat</a:t>
            </a:r>
            <a:r>
              <a:rPr lang="es-CO" sz="1800" dirty="0"/>
              <a:t>() termina con el carácter que no es un numero de coma flotante. </a:t>
            </a:r>
          </a:p>
          <a:p>
            <a:pPr algn="just"/>
            <a:r>
              <a:rPr lang="es-CO" sz="1800" dirty="0"/>
              <a:t>Devuelve el primer numero entero valido del buffer Serial. </a:t>
            </a:r>
            <a:r>
              <a:rPr lang="es-CO" sz="1800" dirty="0" err="1"/>
              <a:t>parseInt</a:t>
            </a:r>
            <a:r>
              <a:rPr lang="es-CO" sz="1800" dirty="0"/>
              <a:t>() </a:t>
            </a:r>
          </a:p>
          <a:p>
            <a:pPr algn="just"/>
            <a:endParaRPr lang="es-CO" sz="1800" dirty="0"/>
          </a:p>
          <a:p>
            <a:pPr algn="just"/>
            <a:endParaRPr lang="es-CO" sz="1800" dirty="0"/>
          </a:p>
        </p:txBody>
      </p:sp>
      <p:pic>
        <p:nvPicPr>
          <p:cNvPr id="5" name="Imagen 4">
            <a:extLst>
              <a:ext uri="{FF2B5EF4-FFF2-40B4-BE49-F238E27FC236}">
                <a16:creationId xmlns:a16="http://schemas.microsoft.com/office/drawing/2014/main" id="{CDB4965B-1364-A21D-6B96-9BE884A1CE81}"/>
              </a:ext>
            </a:extLst>
          </p:cNvPr>
          <p:cNvPicPr>
            <a:picLocks noChangeAspect="1"/>
          </p:cNvPicPr>
          <p:nvPr/>
        </p:nvPicPr>
        <p:blipFill>
          <a:blip r:embed="rId2"/>
          <a:stretch>
            <a:fillRect/>
          </a:stretch>
        </p:blipFill>
        <p:spPr>
          <a:xfrm>
            <a:off x="1157037" y="2858335"/>
            <a:ext cx="3406435" cy="3848433"/>
          </a:xfrm>
          <a:prstGeom prst="rect">
            <a:avLst/>
          </a:prstGeom>
        </p:spPr>
      </p:pic>
      <p:pic>
        <p:nvPicPr>
          <p:cNvPr id="7" name="Imagen 6">
            <a:extLst>
              <a:ext uri="{FF2B5EF4-FFF2-40B4-BE49-F238E27FC236}">
                <a16:creationId xmlns:a16="http://schemas.microsoft.com/office/drawing/2014/main" id="{82F6973A-B448-BAF0-6043-C35FC1B38313}"/>
              </a:ext>
            </a:extLst>
          </p:cNvPr>
          <p:cNvPicPr>
            <a:picLocks noChangeAspect="1"/>
          </p:cNvPicPr>
          <p:nvPr/>
        </p:nvPicPr>
        <p:blipFill>
          <a:blip r:embed="rId3"/>
          <a:stretch>
            <a:fillRect/>
          </a:stretch>
        </p:blipFill>
        <p:spPr>
          <a:xfrm>
            <a:off x="6180613" y="2939573"/>
            <a:ext cx="4269864" cy="3767195"/>
          </a:xfrm>
          <a:prstGeom prst="rect">
            <a:avLst/>
          </a:prstGeom>
        </p:spPr>
      </p:pic>
    </p:spTree>
    <p:extLst>
      <p:ext uri="{BB962C8B-B14F-4D97-AF65-F5344CB8AC3E}">
        <p14:creationId xmlns:p14="http://schemas.microsoft.com/office/powerpoint/2010/main" val="3542006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B5994A-EA5C-8F0D-1814-FBDB5C878496}"/>
              </a:ext>
            </a:extLst>
          </p:cNvPr>
          <p:cNvSpPr>
            <a:spLocks noGrp="1"/>
          </p:cNvSpPr>
          <p:nvPr>
            <p:ph type="title"/>
          </p:nvPr>
        </p:nvSpPr>
        <p:spPr/>
        <p:txBody>
          <a:bodyPr/>
          <a:lstStyle/>
          <a:p>
            <a:pPr algn="ctr"/>
            <a:r>
              <a:rPr lang="es-CO" dirty="0"/>
              <a:t>Pantalla alfanumérica 16x2</a:t>
            </a:r>
          </a:p>
        </p:txBody>
      </p:sp>
      <p:sp>
        <p:nvSpPr>
          <p:cNvPr id="3" name="Marcador de contenido 2">
            <a:extLst>
              <a:ext uri="{FF2B5EF4-FFF2-40B4-BE49-F238E27FC236}">
                <a16:creationId xmlns:a16="http://schemas.microsoft.com/office/drawing/2014/main" id="{0D494C5C-7792-FF63-FB15-6EDCA02CB8D4}"/>
              </a:ext>
            </a:extLst>
          </p:cNvPr>
          <p:cNvSpPr>
            <a:spLocks noGrp="1"/>
          </p:cNvSpPr>
          <p:nvPr>
            <p:ph idx="1"/>
          </p:nvPr>
        </p:nvSpPr>
        <p:spPr/>
        <p:txBody>
          <a:bodyPr>
            <a:normAutofit fontScale="77500" lnSpcReduction="20000"/>
          </a:bodyPr>
          <a:lstStyle/>
          <a:p>
            <a:pPr algn="just"/>
            <a:r>
              <a:rPr lang="es-CO" dirty="0"/>
              <a:t>Es un dispositivo de salida e interfaz de usuario en proyectos de Arduino, </a:t>
            </a:r>
            <a:r>
              <a:rPr lang="es-CO" dirty="0" err="1"/>
              <a:t>raspberry</a:t>
            </a:r>
            <a:r>
              <a:rPr lang="es-CO" dirty="0"/>
              <a:t> pi y otros microcontroladores. Es compatible con el juego de estándares de controlador HD44780 en el que se basan la mayoría de los </a:t>
            </a:r>
            <a:r>
              <a:rPr lang="es-CO" dirty="0" err="1"/>
              <a:t>displays</a:t>
            </a:r>
            <a:r>
              <a:rPr lang="es-CO" dirty="0"/>
              <a:t> de este tipo y permite visualizar hasta 2 líneas de texto de 16 caracteres cada una.</a:t>
            </a:r>
          </a:p>
          <a:p>
            <a:pPr algn="just"/>
            <a:endParaRPr lang="es-CO" dirty="0"/>
          </a:p>
          <a:p>
            <a:pPr algn="just"/>
            <a:r>
              <a:rPr lang="es-CO" dirty="0"/>
              <a:t>Las aplicaciones comunes de este tipo de display son:</a:t>
            </a:r>
          </a:p>
          <a:p>
            <a:pPr algn="just"/>
            <a:r>
              <a:rPr lang="es-CO" dirty="0"/>
              <a:t>Equipos de laboratorio</a:t>
            </a:r>
          </a:p>
          <a:p>
            <a:pPr algn="just"/>
            <a:r>
              <a:rPr lang="es-CO" dirty="0"/>
              <a:t>Automatización de estacionamientos</a:t>
            </a:r>
          </a:p>
          <a:p>
            <a:pPr algn="just"/>
            <a:r>
              <a:rPr lang="es-CO" dirty="0"/>
              <a:t>Maquinas de vending</a:t>
            </a:r>
          </a:p>
          <a:p>
            <a:pPr algn="just"/>
            <a:r>
              <a:rPr lang="es-CO" dirty="0"/>
              <a:t>Equipos de audio</a:t>
            </a:r>
          </a:p>
          <a:p>
            <a:pPr algn="just"/>
            <a:r>
              <a:rPr lang="es-CO" dirty="0"/>
              <a:t>Equipos de telecomunicaciones y redes</a:t>
            </a:r>
          </a:p>
          <a:p>
            <a:pPr algn="just"/>
            <a:r>
              <a:rPr lang="es-CO" dirty="0"/>
              <a:t>Prototipo electrónicos</a:t>
            </a:r>
          </a:p>
        </p:txBody>
      </p:sp>
    </p:spTree>
    <p:extLst>
      <p:ext uri="{BB962C8B-B14F-4D97-AF65-F5344CB8AC3E}">
        <p14:creationId xmlns:p14="http://schemas.microsoft.com/office/powerpoint/2010/main" val="1950181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60311F-DBA9-268D-E708-F840BB843342}"/>
              </a:ext>
            </a:extLst>
          </p:cNvPr>
          <p:cNvSpPr>
            <a:spLocks noGrp="1"/>
          </p:cNvSpPr>
          <p:nvPr>
            <p:ph type="title"/>
          </p:nvPr>
        </p:nvSpPr>
        <p:spPr/>
        <p:txBody>
          <a:bodyPr/>
          <a:lstStyle/>
          <a:p>
            <a:r>
              <a:rPr lang="es-CO" dirty="0"/>
              <a:t>Comunicaciones con el microcontrolador</a:t>
            </a:r>
          </a:p>
        </p:txBody>
      </p:sp>
      <p:pic>
        <p:nvPicPr>
          <p:cNvPr id="5" name="Marcador de contenido 4">
            <a:extLst>
              <a:ext uri="{FF2B5EF4-FFF2-40B4-BE49-F238E27FC236}">
                <a16:creationId xmlns:a16="http://schemas.microsoft.com/office/drawing/2014/main" id="{3288118B-2947-2FBC-D1EF-9726AFA9FE0D}"/>
              </a:ext>
            </a:extLst>
          </p:cNvPr>
          <p:cNvPicPr>
            <a:picLocks noGrp="1" noChangeAspect="1"/>
          </p:cNvPicPr>
          <p:nvPr>
            <p:ph idx="1"/>
          </p:nvPr>
        </p:nvPicPr>
        <p:blipFill>
          <a:blip r:embed="rId2"/>
          <a:stretch>
            <a:fillRect/>
          </a:stretch>
        </p:blipFill>
        <p:spPr>
          <a:xfrm>
            <a:off x="838200" y="1690688"/>
            <a:ext cx="6918967" cy="4351338"/>
          </a:xfrm>
        </p:spPr>
      </p:pic>
    </p:spTree>
    <p:extLst>
      <p:ext uri="{BB962C8B-B14F-4D97-AF65-F5344CB8AC3E}">
        <p14:creationId xmlns:p14="http://schemas.microsoft.com/office/powerpoint/2010/main" val="267241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511E73-93D7-54C5-F6D3-75909A89007F}"/>
              </a:ext>
            </a:extLst>
          </p:cNvPr>
          <p:cNvSpPr>
            <a:spLocks noGrp="1"/>
          </p:cNvSpPr>
          <p:nvPr>
            <p:ph type="title"/>
          </p:nvPr>
        </p:nvSpPr>
        <p:spPr/>
        <p:txBody>
          <a:bodyPr/>
          <a:lstStyle/>
          <a:p>
            <a:pPr algn="ctr"/>
            <a:r>
              <a:rPr lang="es-CO" dirty="0"/>
              <a:t>Conexión al Arduino</a:t>
            </a:r>
          </a:p>
        </p:txBody>
      </p:sp>
      <p:pic>
        <p:nvPicPr>
          <p:cNvPr id="2050" name="Picture 2" descr="LCD 16x2 por I2C con Arduino usando solo dos pines - Geek Factory">
            <a:extLst>
              <a:ext uri="{FF2B5EF4-FFF2-40B4-BE49-F238E27FC236}">
                <a16:creationId xmlns:a16="http://schemas.microsoft.com/office/drawing/2014/main" id="{C353A7E7-CA7E-88B4-2CC6-BB9800F00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1" y="2040071"/>
            <a:ext cx="8313964" cy="3887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006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FB14D7-7D92-15D8-8EBB-3FC22CC297B3}"/>
              </a:ext>
            </a:extLst>
          </p:cNvPr>
          <p:cNvSpPr>
            <a:spLocks noGrp="1"/>
          </p:cNvSpPr>
          <p:nvPr>
            <p:ph type="title"/>
          </p:nvPr>
        </p:nvSpPr>
        <p:spPr/>
        <p:txBody>
          <a:bodyPr/>
          <a:lstStyle/>
          <a:p>
            <a:r>
              <a:rPr lang="es-CO" dirty="0"/>
              <a:t>Operaciones</a:t>
            </a:r>
          </a:p>
        </p:txBody>
      </p:sp>
      <p:pic>
        <p:nvPicPr>
          <p:cNvPr id="5" name="Marcador de contenido 4">
            <a:extLst>
              <a:ext uri="{FF2B5EF4-FFF2-40B4-BE49-F238E27FC236}">
                <a16:creationId xmlns:a16="http://schemas.microsoft.com/office/drawing/2014/main" id="{9F472321-94C0-663C-F6BB-64F3C05CAAF2}"/>
              </a:ext>
            </a:extLst>
          </p:cNvPr>
          <p:cNvPicPr>
            <a:picLocks noGrp="1" noChangeAspect="1"/>
          </p:cNvPicPr>
          <p:nvPr>
            <p:ph idx="1"/>
          </p:nvPr>
        </p:nvPicPr>
        <p:blipFill>
          <a:blip r:embed="rId2"/>
          <a:stretch>
            <a:fillRect/>
          </a:stretch>
        </p:blipFill>
        <p:spPr>
          <a:xfrm>
            <a:off x="903100" y="1690688"/>
            <a:ext cx="6066464" cy="4351338"/>
          </a:xfrm>
        </p:spPr>
      </p:pic>
    </p:spTree>
    <p:extLst>
      <p:ext uri="{BB962C8B-B14F-4D97-AF65-F5344CB8AC3E}">
        <p14:creationId xmlns:p14="http://schemas.microsoft.com/office/powerpoint/2010/main" val="664810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50CE59-56FD-C69C-0DB2-2CD385258E5E}"/>
              </a:ext>
            </a:extLst>
          </p:cNvPr>
          <p:cNvSpPr>
            <a:spLocks noGrp="1"/>
          </p:cNvSpPr>
          <p:nvPr>
            <p:ph type="title"/>
          </p:nvPr>
        </p:nvSpPr>
        <p:spPr/>
        <p:txBody>
          <a:bodyPr/>
          <a:lstStyle/>
          <a:p>
            <a:r>
              <a:rPr lang="en-US" dirty="0"/>
              <a:t>Operacion de la </a:t>
            </a:r>
            <a:r>
              <a:rPr lang="en-US" dirty="0" err="1"/>
              <a:t>libreria</a:t>
            </a:r>
            <a:r>
              <a:rPr lang="en-US" dirty="0"/>
              <a:t> LiquidCrystal_I2C</a:t>
            </a:r>
            <a:endParaRPr lang="es-CO" dirty="0"/>
          </a:p>
        </p:txBody>
      </p:sp>
      <p:sp>
        <p:nvSpPr>
          <p:cNvPr id="3" name="Marcador de contenido 2">
            <a:extLst>
              <a:ext uri="{FF2B5EF4-FFF2-40B4-BE49-F238E27FC236}">
                <a16:creationId xmlns:a16="http://schemas.microsoft.com/office/drawing/2014/main" id="{4ED82C2A-D91C-5186-D7B9-73AD6038E07E}"/>
              </a:ext>
            </a:extLst>
          </p:cNvPr>
          <p:cNvSpPr>
            <a:spLocks noGrp="1"/>
          </p:cNvSpPr>
          <p:nvPr>
            <p:ph idx="1"/>
          </p:nvPr>
        </p:nvSpPr>
        <p:spPr/>
        <p:txBody>
          <a:bodyPr/>
          <a:lstStyle/>
          <a:p>
            <a:r>
              <a:rPr lang="es-CO" dirty="0"/>
              <a:t>Esta librería permite inicializar la pantalla alfanumérica por medio del protocolo I2C. Su sintaxis es: </a:t>
            </a:r>
          </a:p>
        </p:txBody>
      </p:sp>
      <p:pic>
        <p:nvPicPr>
          <p:cNvPr id="5" name="Imagen 4">
            <a:extLst>
              <a:ext uri="{FF2B5EF4-FFF2-40B4-BE49-F238E27FC236}">
                <a16:creationId xmlns:a16="http://schemas.microsoft.com/office/drawing/2014/main" id="{259AA9D9-3A82-01F1-DEC5-2BF8560FB519}"/>
              </a:ext>
            </a:extLst>
          </p:cNvPr>
          <p:cNvPicPr>
            <a:picLocks noChangeAspect="1"/>
          </p:cNvPicPr>
          <p:nvPr/>
        </p:nvPicPr>
        <p:blipFill>
          <a:blip r:embed="rId2"/>
          <a:stretch>
            <a:fillRect/>
          </a:stretch>
        </p:blipFill>
        <p:spPr>
          <a:xfrm>
            <a:off x="2316152" y="3338684"/>
            <a:ext cx="7559695" cy="1828958"/>
          </a:xfrm>
          <a:prstGeom prst="rect">
            <a:avLst/>
          </a:prstGeom>
        </p:spPr>
      </p:pic>
    </p:spTree>
    <p:extLst>
      <p:ext uri="{BB962C8B-B14F-4D97-AF65-F5344CB8AC3E}">
        <p14:creationId xmlns:p14="http://schemas.microsoft.com/office/powerpoint/2010/main" val="3589700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9EB0C4-0041-BA2B-3B96-9E3A030B9AF9}"/>
              </a:ext>
            </a:extLst>
          </p:cNvPr>
          <p:cNvSpPr>
            <a:spLocks noGrp="1"/>
          </p:cNvSpPr>
          <p:nvPr>
            <p:ph type="title"/>
          </p:nvPr>
        </p:nvSpPr>
        <p:spPr/>
        <p:txBody>
          <a:bodyPr/>
          <a:lstStyle/>
          <a:p>
            <a:r>
              <a:rPr lang="en-US" dirty="0" err="1"/>
              <a:t>Ejercicio</a:t>
            </a:r>
            <a:endParaRPr lang="es-CO" dirty="0"/>
          </a:p>
        </p:txBody>
      </p:sp>
      <p:sp>
        <p:nvSpPr>
          <p:cNvPr id="3" name="Marcador de contenido 2">
            <a:extLst>
              <a:ext uri="{FF2B5EF4-FFF2-40B4-BE49-F238E27FC236}">
                <a16:creationId xmlns:a16="http://schemas.microsoft.com/office/drawing/2014/main" id="{35E85068-D293-2804-A8AD-4AE0C68863D7}"/>
              </a:ext>
            </a:extLst>
          </p:cNvPr>
          <p:cNvSpPr>
            <a:spLocks noGrp="1"/>
          </p:cNvSpPr>
          <p:nvPr>
            <p:ph idx="1"/>
          </p:nvPr>
        </p:nvSpPr>
        <p:spPr/>
        <p:txBody>
          <a:bodyPr/>
          <a:lstStyle/>
          <a:p>
            <a:pPr algn="just"/>
            <a:r>
              <a:rPr lang="es-CO" dirty="0"/>
              <a:t>Realizar un algoritmo donde el usuario debe ingresar por consola (Serial) un dato tipo </a:t>
            </a:r>
            <a:r>
              <a:rPr lang="es-CO" dirty="0" err="1"/>
              <a:t>String</a:t>
            </a:r>
            <a:r>
              <a:rPr lang="es-CO" dirty="0"/>
              <a:t>. Cuando se ingrese una letra deberá aparecer en la pantalla alfanumérica.</a:t>
            </a:r>
          </a:p>
          <a:p>
            <a:pPr algn="just"/>
            <a:endParaRPr lang="es-CO" dirty="0"/>
          </a:p>
          <a:p>
            <a:pPr algn="just"/>
            <a:r>
              <a:rPr lang="es-CO" dirty="0"/>
              <a:t>Crear un código donde el usuario mande un dato y llame una imagen donde por pantalla se muestre que se </a:t>
            </a:r>
            <a:r>
              <a:rPr lang="es-CO" dirty="0" err="1"/>
              <a:t>envio</a:t>
            </a:r>
            <a:r>
              <a:rPr lang="es-CO" dirty="0"/>
              <a:t> y despliegue la imagen en el panel.</a:t>
            </a:r>
          </a:p>
        </p:txBody>
      </p:sp>
    </p:spTree>
    <p:extLst>
      <p:ext uri="{BB962C8B-B14F-4D97-AF65-F5344CB8AC3E}">
        <p14:creationId xmlns:p14="http://schemas.microsoft.com/office/powerpoint/2010/main" val="3709997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02E1F5-58CD-D17B-CDEF-9CD43826D3F2}"/>
              </a:ext>
            </a:extLst>
          </p:cNvPr>
          <p:cNvSpPr>
            <a:spLocks noGrp="1"/>
          </p:cNvSpPr>
          <p:nvPr>
            <p:ph type="title"/>
          </p:nvPr>
        </p:nvSpPr>
        <p:spPr/>
        <p:txBody>
          <a:bodyPr/>
          <a:lstStyle/>
          <a:p>
            <a:r>
              <a:rPr lang="es-CO" dirty="0"/>
              <a:t>Introducción a </a:t>
            </a:r>
            <a:r>
              <a:rPr lang="es-CO" dirty="0" err="1"/>
              <a:t>Teleplot</a:t>
            </a:r>
            <a:endParaRPr lang="es-CO" dirty="0"/>
          </a:p>
        </p:txBody>
      </p:sp>
      <p:sp>
        <p:nvSpPr>
          <p:cNvPr id="3" name="Marcador de contenido 2">
            <a:extLst>
              <a:ext uri="{FF2B5EF4-FFF2-40B4-BE49-F238E27FC236}">
                <a16:creationId xmlns:a16="http://schemas.microsoft.com/office/drawing/2014/main" id="{BB0F8341-EF0D-ED0D-00F9-3319E5356447}"/>
              </a:ext>
            </a:extLst>
          </p:cNvPr>
          <p:cNvSpPr>
            <a:spLocks noGrp="1"/>
          </p:cNvSpPr>
          <p:nvPr>
            <p:ph sz="half" idx="1"/>
          </p:nvPr>
        </p:nvSpPr>
        <p:spPr/>
        <p:txBody>
          <a:bodyPr>
            <a:normAutofit/>
          </a:bodyPr>
          <a:lstStyle/>
          <a:p>
            <a:r>
              <a:rPr lang="es-MX" dirty="0"/>
              <a:t>Es una herramienta de telemetría ligera y sencilla que permite trazar gráficos en tiempo real dentro del navegador o mediante su extensión para Visual Studio </a:t>
            </a:r>
            <a:r>
              <a:rPr lang="es-MX" dirty="0" err="1"/>
              <a:t>Code</a:t>
            </a:r>
            <a:r>
              <a:rPr lang="es-MX" dirty="0"/>
              <a:t>.</a:t>
            </a:r>
            <a:endParaRPr lang="es-CO" dirty="0"/>
          </a:p>
        </p:txBody>
      </p:sp>
      <p:pic>
        <p:nvPicPr>
          <p:cNvPr id="7" name="Marcador de contenido 6">
            <a:extLst>
              <a:ext uri="{FF2B5EF4-FFF2-40B4-BE49-F238E27FC236}">
                <a16:creationId xmlns:a16="http://schemas.microsoft.com/office/drawing/2014/main" id="{87AF1A1E-05DA-9441-B9D0-E630C2501574}"/>
              </a:ext>
            </a:extLst>
          </p:cNvPr>
          <p:cNvPicPr>
            <a:picLocks noGrp="1" noChangeAspect="1"/>
          </p:cNvPicPr>
          <p:nvPr>
            <p:ph sz="half" idx="2"/>
          </p:nvPr>
        </p:nvPicPr>
        <p:blipFill>
          <a:blip r:embed="rId2"/>
          <a:stretch>
            <a:fillRect/>
          </a:stretch>
        </p:blipFill>
        <p:spPr>
          <a:xfrm>
            <a:off x="6019800" y="1392917"/>
            <a:ext cx="5816300" cy="5294659"/>
          </a:xfrm>
        </p:spPr>
      </p:pic>
      <p:pic>
        <p:nvPicPr>
          <p:cNvPr id="1028" name="Picture 4" descr="teleplot - Visual Studio Marketplace">
            <a:extLst>
              <a:ext uri="{FF2B5EF4-FFF2-40B4-BE49-F238E27FC236}">
                <a16:creationId xmlns:a16="http://schemas.microsoft.com/office/drawing/2014/main" id="{0E66FEA1-58C2-FBEA-E755-07812D2E2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621" y="4563501"/>
            <a:ext cx="48768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734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68F3DC7-70AF-A517-6844-B001BFEB4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975"/>
            <a:ext cx="12192000" cy="675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79322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TotalTime>
  <Words>674</Words>
  <Application>Microsoft Office PowerPoint</Application>
  <PresentationFormat>Panorámica</PresentationFormat>
  <Paragraphs>66</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Calibri Light</vt:lpstr>
      <vt:lpstr>Tema de Office</vt:lpstr>
      <vt:lpstr>Practica # 6 – Automatización industrial </vt:lpstr>
      <vt:lpstr>Contenido</vt:lpstr>
      <vt:lpstr>Aplicación y listado de la función Serial</vt:lpstr>
      <vt:lpstr>Funcion Serial.begin()</vt:lpstr>
      <vt:lpstr>Funcion Serial.print() </vt:lpstr>
      <vt:lpstr>Funcion Serial.println()</vt:lpstr>
      <vt:lpstr>Funciones Serial.available() / Serial.availableforWrite()</vt:lpstr>
      <vt:lpstr>Funciones Serial.available() / Serial.availableforWrite()</vt:lpstr>
      <vt:lpstr>Funcion Serial.read()</vt:lpstr>
      <vt:lpstr>Funcion Serial.readString</vt:lpstr>
      <vt:lpstr>Funcion Serial.readStringUnitil()</vt:lpstr>
      <vt:lpstr>Funcion ParseInt y ParseFloat</vt:lpstr>
      <vt:lpstr>Pantalla alfanumérica 16x2</vt:lpstr>
      <vt:lpstr>Comunicaciones con el microcontrolador</vt:lpstr>
      <vt:lpstr>Conexión al Arduino</vt:lpstr>
      <vt:lpstr>Operaciones</vt:lpstr>
      <vt:lpstr>Operacion de la libreria LiquidCrystal_I2C</vt:lpstr>
      <vt:lpstr>Ejercicio</vt:lpstr>
      <vt:lpstr>Introducción a Teleplot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 # 7 – Electrónica Aplicada</dc:title>
  <dc:creator>Gian Carlo Daraviña</dc:creator>
  <cp:lastModifiedBy>Giancarlo Daraviña Peña</cp:lastModifiedBy>
  <cp:revision>44</cp:revision>
  <dcterms:created xsi:type="dcterms:W3CDTF">2022-09-21T21:04:18Z</dcterms:created>
  <dcterms:modified xsi:type="dcterms:W3CDTF">2026-10-06T14:49:32Z</dcterms:modified>
</cp:coreProperties>
</file>